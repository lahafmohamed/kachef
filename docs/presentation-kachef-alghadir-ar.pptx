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مقدمة" id="{2e90cfb8-74a9-b61c-9a23-673e26cdf117}">
          <p14:sldIdLst>
            <p14:sldId id="256"/>
            <p14:sldId id="257"/>
            <p14:sldId id="258"/>
            <p14:sldId id="259"/>
          </p14:sldIdLst>
        </p14:section>
        <p14:section name="1 · البنية والعناصر" id="{67dce583-076a-e2d7-3512-5cc2bfac303b}">
          <p14:sldIdLst>
            <p14:sldId id="260"/>
            <p14:sldId id="261"/>
            <p14:sldId id="262"/>
            <p14:sldId id="263"/>
            <p14:sldId id="264"/>
          </p14:sldIdLst>
        </p14:section>
        <p14:section name="2 · الأنشطة والمتابعة" id="{4d8b3b42-a363-fdb8-29b2-c4a348d08071}">
          <p14:sldIdLst>
            <p14:sldId id="265"/>
            <p14:sldId id="266"/>
            <p14:sldId id="267"/>
            <p14:sldId id="268"/>
          </p14:sldIdLst>
        </p14:section>
        <p14:section name="3 · المسار الكشفي" id="{2928f913-dfab-ab7d-4e66-7406c4a66a3b}">
          <p14:sldIdLst>
            <p14:sldId id="269"/>
            <p14:sldId id="270"/>
            <p14:sldId id="271"/>
          </p14:sldIdLst>
        </p14:section>
        <p14:section name="4 · المخيمات والاجتماعات والصناديق" id="{fdf9be59-3c1c-09fb-d7f0-c29428b8b404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5 · القادة والتقارير والأمان" id="{5d679eec-437b-834b-234c-795bcee4baf6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دقيقة واحدة. التحية والتعريف بالهدف: نعرض اليوم البرنامج الذي يجمع كل عمل الفوج في مكان واحد، ونبيّن ماذا يفعل لكل قائد ولكل فرقة. مدة العرض 30 دقيقة ثم أسئلة.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دقيقتان. ابدأ بالمشكلة التي يعرفها الجميع: كل فرقة تعمل بطريقتها، والمعلومة تضيع بين الأوراق والواتساب. ثم اعرض الهدف: مكان واحد، بيانات موثوقة، تنبيهات، تقارير.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نصف دقيقة. خمسة أقسام، كل قسم 5 إلى 6 دقائق. الأسئلة التفصيلية في الآخر.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دقيقة. مرّ على الوحدات بسرعة، هذه خريطة العرض. كل وحدة ستأتي بالتفصيل. النقطة المهمة: الوحدات مترابطة، الحضور يغذّي المطالب والترفيع والاشتراكات والتقارير.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انتقال.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دقيقتان. اشرح الهرم: قسم الفتيان وقسم الفتيات معزولان تمامًا، ثم الفرق حسب المرحلة، ثم الطلائع. البرنامج يحسب عمر العنصر ويقترح الطليعة المناسبة.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دقيقتان. أول ما يراه القائد عند الدخول. المؤشرات تُحسب تلقائيًا من الحضور والاشتراكات. القائمة البرتقالية 'بحاجة إلى إجراء' تقول له ما ينقص اليوم. كل قائد يرى فرقته فقط.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دقيقتان. الملف هو مركز كل شيء. من الملف نرى حضوره، مطالبه، اشتراكاته، ومن اتصل بأهله ومتى. الصور والملفات المرفقة (شهادة الميلاد، الإذن) تُحفظ هنا أيضًا. التعديل مسجّل: من عدّل ومتى.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دقيقتان. هذا مبني على مطالب القبول في دليل كشاف المهدي: مدة التجربة، عدد البنود، عدد الاجتماعات المتتالية، الصرخات. القيم قابلة للضبط لكل فرقة في الإعدادات. الفائدة: نعرف بالضبط من يستحق الفولار في حفل القبول القادم.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انتقال.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دقائق. هذه الشاشة الأكثر استعمالًا. أظهر الحضور بالضغط على الأسماء، ثم زر تثبيت الحضور. النقطة المهمة: نشاط لم يُثبَّت لا يُحسب في النسب، فلا نحصل على أرقام خاطئة. تذكير تلقائي يصل للقائد إذا لم يُسجّل الحضور.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دقيقتان. سبب الانقطاع الأول هو أن أحدًا لم يلاحظ الغياب في وقته. البرنامج يلاحظ وينبّه. وسجل الاتصال يمنع الازدواج أو الإهمال.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دقيقة ونصف. البطاقة تجعل التحضير مكتوبًا ومتاحًا لكل قادة الفرقة. الخطة الفصلية ترى من خلالها أي الأنشطة محضّرة وأيها لا.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انتقال.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دقيقتان. الكتالوج هو أساس سجل التقدم. المجالات والنسب مأخوذة من منهج كشاف المهدي. الرسم على اليسار مثال فقط على ما تراه الفرقة.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دقيقة ونصف. الترفيع لم يعد يعتمد على الذاكرة. الصفحة تعرض قائمة الجاهزين وقائمة الحالات التي تحتاج تدقيقًا. الترفيع نفسه يتم بضغطة مع حفظ الأثر.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انتقال.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دقيقتان. وحدة مستقلة عن الأنشطة الأسبوعية فلا تُفسد نسب الحضور. تتبّع المال لكل مخيم: من دفع ومن عليه باقٍ، وصندوق الفرقة الذي موّل المخيم.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دقيقتان. أهم شريحة للأهل والقيادة: السلامة. القائمة مبنية على توصيات السلامة في المخيم في دليل كشاف المهدي.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دقيقة ونصف. القرارات لا تضيع: كل قرار له مكلّف وموعد ويظهر في «مهامي» عند القائد المعني وفي الاجتماع التالي للمتابعة.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دقيقة ونصف. الشفافية المالية أمام القيادة والأهل. كل فرقة ترى صندوقها فقط، والمسؤول يرى الكل.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دقيقة ونصف. الاشتراك مفصول عن نتيجة النشاط حتى لا تختلط الأرقام. المتأخرات تبقى محفوظة حتى بعد أرشفة العنصر.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انتقال.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دقيقة ونصف. كل قائد يدخل بحسابه فنعرف من فعل ماذا. طلبنا من كل قائد: حساب واحد شخصي.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دقيقة ونصف. قسم الفتيات معزول تمامًا: قادة الفتيان لا يرون بياناته والعكس. المسؤول وحده يتنقل بين القسمين.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دقيقة ونصف. 14 نوعًا من الإشعارات. تصل على الهاتف كأي تطبيق، وتبقى في الجرس داخل البرنامج. كل قائد يستقبل ما يخص فرقته فقط.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دقيقة ونصف. كل صفحة فيها زر «تنزيل» يعطي PDF أو Excel مباشرة بدون نافذة طباعة. التقرير الدوري هو ما يُرسل للقيادة كل شهر أو فصل.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دقيقة. أظهر الهاتف مباشرة إن أمكن: تسجيل الحضور من الهاتف في الساحة هو الاستعمال الأكثر شيوعًا.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دقيقة ونصف. الأهل يسألون: أين بيانات أطفالنا؟ الجواب: على خادمنا، بحسابات شخصية، مع سجل لكل تعديل ونسخ احتياطية.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دقيقتان. اختم بالطلب العملي: البرنامج يفيد بقدر ما يُغذّى بالبيانات. ثم افتح باب الأسئلة.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أسئلة وأجوبة، 5 دقائق تقريبًا. إن أمكن، افتح البرنامج مباشرة وجرّب تسجيل حضور أمامهم.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3000" b="1" dirty="0">
                <a:solidFill>
                  <a:schemeClr val="tx2"/>
                </a:solidFill>
              </a:defRPr>
            </a:lvl1pPr>
          </a:lstStyle>
          <a:p>
            <a:pPr algn="r" indent="0" marL="0">
              <a:buNone/>
            </a:pPr>
            <a:endParaRPr lang="ar-SA" sz="3000" dirty="0"/>
          </a:p>
        </p:txBody>
      </p:sp>
      <p:sp>
        <p:nvSpPr>
          <p:cNvPr id="3" name="Text 0"/>
          <p:cNvSpPr/>
          <p:nvPr/>
        </p:nvSpPr>
        <p:spPr>
          <a:xfrm>
            <a:off x="640080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000" dirty="0">
                <a:solidFill>
                  <a:schemeClr val="accent6"/>
                </a:solidFill>
              </a:rPr>
              <a:t>كشاف الغدير</a:t>
            </a:r>
            <a:endParaRPr lang="ar-SA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94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A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6C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40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ar-SA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88036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1800" dirty="0">
                <a:solidFill>
                  <a:schemeClr val="bg2"/>
                </a:solidFill>
              </a:defRPr>
            </a:lvl1pPr>
          </a:lstStyle>
          <a:p>
            <a:pPr algn="r" indent="0" marL="0">
              <a:buNone/>
            </a:pPr>
            <a:endParaRPr lang="ar-SA" sz="1800" dirty="0"/>
          </a:p>
        </p:txBody>
      </p:sp>
      <p:sp>
        <p:nvSpPr>
          <p:cNvPr id="4" name="Text 0"/>
          <p:cNvSpPr/>
          <p:nvPr/>
        </p:nvSpPr>
        <p:spPr>
          <a:xfrm>
            <a:off x="6400800" y="47594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000" dirty="0">
                <a:solidFill>
                  <a:schemeClr val="bg1"/>
                </a:solidFill>
              </a:rPr>
              <a:t>كشاف الغدير</a:t>
            </a:r>
            <a:endParaRPr lang="ar-SA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A6C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94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A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-plate"/>
          <p:cNvSpPr/>
          <p:nvPr/>
        </p:nvSpPr>
        <p:spPr>
          <a:xfrm>
            <a:off x="822960" y="960120"/>
            <a:ext cx="2651760" cy="3200400"/>
          </a:xfrm>
          <a:prstGeom prst="roundRect">
            <a:avLst>
              <a:gd name="adj" fmla="val 620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pic>
        <p:nvPicPr>
          <p:cNvPr id="3" name="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2103120" cy="2803944"/>
          </a:xfrm>
          <a:prstGeom prst="rect">
            <a:avLst/>
          </a:prstGeom>
        </p:spPr>
      </p:pic>
      <p:sp>
        <p:nvSpPr>
          <p:cNvPr id="4" name="text-1"/>
          <p:cNvSpPr txBox="1"/>
          <p:nvPr/>
        </p:nvSpPr>
        <p:spPr>
          <a:xfrm>
            <a:off x="3931920" y="11887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b="1" dirty="0">
                <a:solidFill>
                  <a:schemeClr val="bg1"/>
                </a:solidFill>
              </a:rPr>
              <a:t>كشاف الغدير</a:t>
            </a:r>
            <a:endParaRPr lang="ar-SA" sz="4800" dirty="0"/>
          </a:p>
        </p:txBody>
      </p:sp>
      <p:sp>
        <p:nvSpPr>
          <p:cNvPr id="5" name="text-2"/>
          <p:cNvSpPr txBox="1"/>
          <p:nvPr/>
        </p:nvSpPr>
        <p:spPr>
          <a:xfrm>
            <a:off x="3931920" y="2103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dirty="0">
                <a:solidFill>
                  <a:schemeClr val="accent2"/>
                </a:solidFill>
              </a:rPr>
              <a:t>برنامج إدارة الفوج الكشفي</a:t>
            </a:r>
            <a:endParaRPr lang="ar-SA" sz="2400" dirty="0"/>
          </a:p>
        </p:txBody>
      </p:sp>
      <p:sp>
        <p:nvSpPr>
          <p:cNvPr id="6" name="text-3"/>
          <p:cNvSpPr txBox="1"/>
          <p:nvPr/>
        </p:nvSpPr>
        <p:spPr>
          <a:xfrm>
            <a:off x="3931920" y="2743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العناصر · الأنشطة · المطالب · المخيمات · الصناديق · القادة</a:t>
            </a:r>
            <a:endParaRPr lang="ar-SA" sz="1400" dirty="0"/>
          </a:p>
        </p:txBody>
      </p:sp>
      <p:sp>
        <p:nvSpPr>
          <p:cNvPr id="7" name="text-4"/>
          <p:cNvSpPr txBox="1"/>
          <p:nvPr/>
        </p:nvSpPr>
        <p:spPr>
          <a:xfrm>
            <a:off x="3931920" y="3611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bg2"/>
                </a:solidFill>
              </a:rPr>
              <a:t>عرض تقديمي للهيئة القيادية · أكتوبر 2026</a:t>
            </a:r>
            <a:endParaRPr lang="ar-SA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لماذا برنامج خاص بالفوج؟</a:t>
            </a:r>
            <a:endParaRPr lang="ar-SA" sz="3000" dirty="0"/>
          </a:p>
        </p:txBody>
      </p:sp>
      <p:sp>
        <p:nvSpPr>
          <p:cNvPr id="3" name="card-5"/>
          <p:cNvSpPr/>
          <p:nvPr/>
        </p:nvSpPr>
        <p:spPr>
          <a:xfrm>
            <a:off x="4754880" y="1234440"/>
            <a:ext cx="393192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4" name="card-6"/>
          <p:cNvSpPr/>
          <p:nvPr/>
        </p:nvSpPr>
        <p:spPr>
          <a:xfrm>
            <a:off x="457200" y="1234440"/>
            <a:ext cx="3931920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5" name="circle-7"/>
          <p:cNvSpPr/>
          <p:nvPr/>
        </p:nvSpPr>
        <p:spPr>
          <a:xfrm>
            <a:off x="8001000" y="146304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con-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1701" y="1583741"/>
            <a:ext cx="261518" cy="261518"/>
          </a:xfrm>
          <a:prstGeom prst="rect">
            <a:avLst/>
          </a:prstGeom>
        </p:spPr>
      </p:pic>
      <p:sp>
        <p:nvSpPr>
          <p:cNvPr id="7" name="text-9"/>
          <p:cNvSpPr txBox="1"/>
          <p:nvPr/>
        </p:nvSpPr>
        <p:spPr>
          <a:xfrm>
            <a:off x="5029200" y="15087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قبل البرنامج</a:t>
            </a:r>
            <a:endParaRPr lang="ar-SA" sz="2000" dirty="0"/>
          </a:p>
        </p:txBody>
      </p:sp>
      <p:sp>
        <p:nvSpPr>
          <p:cNvPr id="8" name="bullets-10"/>
          <p:cNvSpPr txBox="1"/>
          <p:nvPr/>
        </p:nvSpPr>
        <p:spPr>
          <a:xfrm>
            <a:off x="5029200" y="2103120"/>
            <a:ext cx="3383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700"/>
              </a:spcAft>
              <a:buSzPct val="100000"/>
              <a:buChar char="•"/>
            </a:pPr>
            <a:r>
              <a:rPr lang="ar-SA" altLang="en-US" sz="1400" dirty="0">
                <a:solidFill>
                  <a:schemeClr val="tx1"/>
                </a:solidFill>
              </a:rPr>
              <a:t>أوراق وملفات Excel متفرقة لكل فرقة</a:t>
            </a:r>
            <a:endParaRPr lang="ar-SA" sz="1400" dirty="0"/>
          </a:p>
          <a:p>
            <a:pPr rtl="1" algn="r" marL="228600" indent="-228600">
              <a:spcAft>
                <a:spcPts val="700"/>
              </a:spcAft>
              <a:buSzPct val="100000"/>
              <a:buChar char="•"/>
            </a:pPr>
            <a:r>
              <a:rPr lang="ar-SA" altLang="en-US" sz="1400" dirty="0">
                <a:solidFill>
                  <a:schemeClr val="tx1"/>
                </a:solidFill>
              </a:rPr>
              <a:t>الحضور يُكتب ثم يضيع، ولا أحد يحسب النسب</a:t>
            </a:r>
            <a:endParaRPr lang="ar-SA" sz="1400" dirty="0"/>
          </a:p>
          <a:p>
            <a:pPr rtl="1" algn="r" marL="228600" indent="-228600">
              <a:spcAft>
                <a:spcPts val="700"/>
              </a:spcAft>
              <a:buSzPct val="100000"/>
              <a:buChar char="•"/>
            </a:pPr>
            <a:r>
              <a:rPr lang="ar-SA" altLang="en-US" sz="1400" dirty="0">
                <a:solidFill>
                  <a:schemeClr val="tx1"/>
                </a:solidFill>
              </a:rPr>
              <a:t>اشتراكات ومصاريف بلا تتبّع واضح</a:t>
            </a:r>
            <a:endParaRPr lang="ar-SA" sz="1400" dirty="0"/>
          </a:p>
          <a:p>
            <a:pPr rtl="1" algn="r" marL="228600" indent="-228600">
              <a:spcAft>
                <a:spcPts val="700"/>
              </a:spcAft>
              <a:buSzPct val="100000"/>
              <a:buChar char="•"/>
            </a:pPr>
            <a:r>
              <a:rPr lang="ar-SA" altLang="en-US" sz="1400" dirty="0">
                <a:solidFill>
                  <a:schemeClr val="tx1"/>
                </a:solidFill>
              </a:rPr>
              <a:t>لا نعرف من جاهز للترفيع ومن انقطع</a:t>
            </a:r>
            <a:endParaRPr lang="ar-SA" sz="1400" dirty="0"/>
          </a:p>
          <a:p>
            <a:pPr rtl="1" algn="r" marL="228600" indent="-228600">
              <a:spcAft>
                <a:spcPts val="700"/>
              </a:spcAft>
              <a:buSzPct val="100000"/>
              <a:buChar char="•"/>
            </a:pPr>
            <a:r>
              <a:rPr lang="ar-SA" altLang="en-US" sz="1400" dirty="0">
                <a:solidFill>
                  <a:schemeClr val="tx1"/>
                </a:solidFill>
              </a:rPr>
              <a:t>معلومات الأهل والصحة في رؤوس القادة</a:t>
            </a:r>
            <a:endParaRPr lang="ar-SA" sz="1400" dirty="0"/>
          </a:p>
        </p:txBody>
      </p:sp>
      <p:sp>
        <p:nvSpPr>
          <p:cNvPr id="9" name="circle-11"/>
          <p:cNvSpPr/>
          <p:nvPr/>
        </p:nvSpPr>
        <p:spPr>
          <a:xfrm>
            <a:off x="3703320" y="14630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-1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021" y="1583741"/>
            <a:ext cx="261518" cy="261518"/>
          </a:xfrm>
          <a:prstGeom prst="rect">
            <a:avLst/>
          </a:prstGeom>
        </p:spPr>
      </p:pic>
      <p:sp>
        <p:nvSpPr>
          <p:cNvPr id="11" name="text-13"/>
          <p:cNvSpPr txBox="1"/>
          <p:nvPr/>
        </p:nvSpPr>
        <p:spPr>
          <a:xfrm>
            <a:off x="731520" y="15087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مع البرنامج</a:t>
            </a:r>
            <a:endParaRPr lang="ar-SA" sz="2000" dirty="0"/>
          </a:p>
        </p:txBody>
      </p:sp>
      <p:sp>
        <p:nvSpPr>
          <p:cNvPr id="12" name="bullets-14"/>
          <p:cNvSpPr txBox="1"/>
          <p:nvPr/>
        </p:nvSpPr>
        <p:spPr>
          <a:xfrm>
            <a:off x="731520" y="2103120"/>
            <a:ext cx="3383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700"/>
              </a:spcAft>
              <a:buSzPct val="100000"/>
              <a:buChar char="•"/>
            </a:pPr>
            <a:r>
              <a:rPr lang="ar-SA" altLang="en-US" sz="1400" dirty="0">
                <a:solidFill>
                  <a:schemeClr val="bg1"/>
                </a:solidFill>
              </a:rPr>
              <a:t>مكان واحد لكل الفوج: الأقسام، الفرق، الطلائع</a:t>
            </a:r>
            <a:endParaRPr lang="ar-SA" sz="1400" dirty="0"/>
          </a:p>
          <a:p>
            <a:pPr rtl="1" algn="r" marL="228600" indent="-228600">
              <a:spcAft>
                <a:spcPts val="700"/>
              </a:spcAft>
              <a:buSzPct val="100000"/>
              <a:buChar char="•"/>
            </a:pPr>
            <a:r>
              <a:rPr lang="ar-SA" altLang="en-US" sz="1400" dirty="0">
                <a:solidFill>
                  <a:schemeClr val="bg1"/>
                </a:solidFill>
              </a:rPr>
              <a:t>حضور موثّق ونسب تُحسب وحدها</a:t>
            </a:r>
            <a:endParaRPr lang="ar-SA" sz="1400" dirty="0"/>
          </a:p>
          <a:p>
            <a:pPr rtl="1" algn="r" marL="228600" indent="-228600">
              <a:spcAft>
                <a:spcPts val="700"/>
              </a:spcAft>
              <a:buSzPct val="100000"/>
              <a:buChar char="•"/>
            </a:pPr>
            <a:r>
              <a:rPr lang="ar-SA" altLang="en-US" sz="1400" dirty="0">
                <a:solidFill>
                  <a:schemeClr val="bg1"/>
                </a:solidFill>
              </a:rPr>
              <a:t>تنبيهات تلقائية: غياب، ترفيع، اشتراك، مخيم</a:t>
            </a:r>
            <a:endParaRPr lang="ar-SA" sz="1400" dirty="0"/>
          </a:p>
          <a:p>
            <a:pPr rtl="1" algn="r" marL="228600" indent="-228600">
              <a:spcAft>
                <a:spcPts val="700"/>
              </a:spcAft>
              <a:buSzPct val="100000"/>
              <a:buChar char="•"/>
            </a:pPr>
            <a:r>
              <a:rPr lang="ar-SA" altLang="en-US" sz="1400" dirty="0">
                <a:solidFill>
                  <a:schemeClr val="bg1"/>
                </a:solidFill>
              </a:rPr>
              <a:t>ملف كامل لكل عنصر، من الانتساب إلى الترفيع</a:t>
            </a:r>
            <a:endParaRPr lang="ar-SA" sz="1400" dirty="0"/>
          </a:p>
          <a:p>
            <a:pPr rtl="1" algn="r" marL="228600" indent="-228600">
              <a:spcAft>
                <a:spcPts val="700"/>
              </a:spcAft>
              <a:buSzPct val="100000"/>
              <a:buChar char="•"/>
            </a:pPr>
            <a:r>
              <a:rPr lang="ar-SA" altLang="en-US" sz="1400" dirty="0">
                <a:solidFill>
                  <a:schemeClr val="bg1"/>
                </a:solidFill>
              </a:rPr>
              <a:t>تقارير PDF وExcel بضغطة زر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94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A85"/>
                </a:solidFill>
              </a:defRPr>
            </a:lvl1pPr>
          </a:lstStyle>
          <a:p>
            <a:pPr rtl="1"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جدول العرض</a:t>
            </a:r>
            <a:endParaRPr lang="ar-SA" sz="3000" dirty="0"/>
          </a:p>
        </p:txBody>
      </p:sp>
      <p:sp>
        <p:nvSpPr>
          <p:cNvPr id="3" name="card-15"/>
          <p:cNvSpPr/>
          <p:nvPr/>
        </p:nvSpPr>
        <p:spPr>
          <a:xfrm>
            <a:off x="457200" y="118872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ircle-16"/>
          <p:cNvSpPr/>
          <p:nvPr/>
        </p:nvSpPr>
        <p:spPr>
          <a:xfrm>
            <a:off x="8001000" y="128016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1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8782" y="1367942"/>
            <a:ext cx="190195" cy="190195"/>
          </a:xfrm>
          <a:prstGeom prst="rect">
            <a:avLst/>
          </a:prstGeom>
        </p:spPr>
      </p:pic>
      <p:sp>
        <p:nvSpPr>
          <p:cNvPr id="6" name="text-18"/>
          <p:cNvSpPr txBox="1"/>
          <p:nvPr/>
        </p:nvSpPr>
        <p:spPr>
          <a:xfrm>
            <a:off x="745236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chemeClr val="accent1"/>
                </a:solidFill>
              </a:rPr>
              <a:t>1</a:t>
            </a:r>
            <a:endParaRPr lang="ar-SA" sz="2200" dirty="0"/>
          </a:p>
        </p:txBody>
      </p:sp>
      <p:sp>
        <p:nvSpPr>
          <p:cNvPr id="7" name="text-19"/>
          <p:cNvSpPr txBox="1"/>
          <p:nvPr/>
        </p:nvSpPr>
        <p:spPr>
          <a:xfrm>
            <a:off x="731520" y="1252728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البنية والعناصر</a:t>
            </a:r>
            <a:endParaRPr lang="ar-SA" sz="1600" dirty="0"/>
          </a:p>
        </p:txBody>
      </p:sp>
      <p:sp>
        <p:nvSpPr>
          <p:cNvPr id="8" name="text-20"/>
          <p:cNvSpPr txBox="1"/>
          <p:nvPr/>
        </p:nvSpPr>
        <p:spPr>
          <a:xfrm>
            <a:off x="731520" y="1499616"/>
            <a:ext cx="662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accent6"/>
                </a:solidFill>
              </a:rPr>
              <a:t>الأقسام والفرق والطلائع، الصفحة الرئيسية، ملف العنصر، القبول</a:t>
            </a:r>
            <a:endParaRPr lang="ar-SA" sz="1200" dirty="0"/>
          </a:p>
        </p:txBody>
      </p:sp>
      <p:sp>
        <p:nvSpPr>
          <p:cNvPr id="9" name="card-21"/>
          <p:cNvSpPr/>
          <p:nvPr/>
        </p:nvSpPr>
        <p:spPr>
          <a:xfrm>
            <a:off x="457200" y="1847088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ircle-22"/>
          <p:cNvSpPr/>
          <p:nvPr/>
        </p:nvSpPr>
        <p:spPr>
          <a:xfrm>
            <a:off x="8001000" y="1938528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on-2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8782" y="2026310"/>
            <a:ext cx="190195" cy="190195"/>
          </a:xfrm>
          <a:prstGeom prst="rect">
            <a:avLst/>
          </a:prstGeom>
        </p:spPr>
      </p:pic>
      <p:sp>
        <p:nvSpPr>
          <p:cNvPr id="12" name="text-24"/>
          <p:cNvSpPr txBox="1"/>
          <p:nvPr/>
        </p:nvSpPr>
        <p:spPr>
          <a:xfrm>
            <a:off x="745236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chemeClr val="accent2"/>
                </a:solidFill>
              </a:rPr>
              <a:t>2</a:t>
            </a:r>
            <a:endParaRPr lang="ar-SA" sz="2200" dirty="0"/>
          </a:p>
        </p:txBody>
      </p:sp>
      <p:sp>
        <p:nvSpPr>
          <p:cNvPr id="13" name="text-25"/>
          <p:cNvSpPr txBox="1"/>
          <p:nvPr/>
        </p:nvSpPr>
        <p:spPr>
          <a:xfrm>
            <a:off x="731520" y="1911096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الأنشطة والمتابعة</a:t>
            </a:r>
            <a:endParaRPr lang="ar-SA" sz="1600" dirty="0"/>
          </a:p>
        </p:txBody>
      </p:sp>
      <p:sp>
        <p:nvSpPr>
          <p:cNvPr id="14" name="text-26"/>
          <p:cNvSpPr txBox="1"/>
          <p:nvPr/>
        </p:nvSpPr>
        <p:spPr>
          <a:xfrm>
            <a:off x="731520" y="2157984"/>
            <a:ext cx="662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accent6"/>
                </a:solidFill>
              </a:rPr>
              <a:t>تسجيل الحضور وتثبيته، متابعة الغياب، بطاقات التحضير</a:t>
            </a:r>
            <a:endParaRPr lang="ar-SA" sz="1200" dirty="0"/>
          </a:p>
        </p:txBody>
      </p:sp>
      <p:sp>
        <p:nvSpPr>
          <p:cNvPr id="15" name="card-27"/>
          <p:cNvSpPr/>
          <p:nvPr/>
        </p:nvSpPr>
        <p:spPr>
          <a:xfrm>
            <a:off x="457200" y="2505456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ircle-28"/>
          <p:cNvSpPr/>
          <p:nvPr/>
        </p:nvSpPr>
        <p:spPr>
          <a:xfrm>
            <a:off x="8001000" y="2596896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con-2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782" y="2684678"/>
            <a:ext cx="190195" cy="190195"/>
          </a:xfrm>
          <a:prstGeom prst="rect">
            <a:avLst/>
          </a:prstGeom>
        </p:spPr>
      </p:pic>
      <p:sp>
        <p:nvSpPr>
          <p:cNvPr id="18" name="text-30"/>
          <p:cNvSpPr txBox="1"/>
          <p:nvPr/>
        </p:nvSpPr>
        <p:spPr>
          <a:xfrm>
            <a:off x="7452360" y="2578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chemeClr val="accent3"/>
                </a:solidFill>
              </a:rPr>
              <a:t>3</a:t>
            </a:r>
            <a:endParaRPr lang="ar-SA" sz="2200" dirty="0"/>
          </a:p>
        </p:txBody>
      </p:sp>
      <p:sp>
        <p:nvSpPr>
          <p:cNvPr id="19" name="text-31"/>
          <p:cNvSpPr txBox="1"/>
          <p:nvPr/>
        </p:nvSpPr>
        <p:spPr>
          <a:xfrm>
            <a:off x="731520" y="2569464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المسار الكشفي</a:t>
            </a:r>
            <a:endParaRPr lang="ar-SA" sz="1600" dirty="0"/>
          </a:p>
        </p:txBody>
      </p:sp>
      <p:sp>
        <p:nvSpPr>
          <p:cNvPr id="20" name="text-32"/>
          <p:cNvSpPr txBox="1"/>
          <p:nvPr/>
        </p:nvSpPr>
        <p:spPr>
          <a:xfrm>
            <a:off x="731520" y="2816352"/>
            <a:ext cx="662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accent6"/>
                </a:solidFill>
              </a:rPr>
              <a:t>كتالوج المطالب، المجالات، الترفيع</a:t>
            </a:r>
            <a:endParaRPr lang="ar-SA" sz="1200" dirty="0"/>
          </a:p>
        </p:txBody>
      </p:sp>
      <p:sp>
        <p:nvSpPr>
          <p:cNvPr id="21" name="card-33"/>
          <p:cNvSpPr/>
          <p:nvPr/>
        </p:nvSpPr>
        <p:spPr>
          <a:xfrm>
            <a:off x="457200" y="3163824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circle-34"/>
          <p:cNvSpPr/>
          <p:nvPr/>
        </p:nvSpPr>
        <p:spPr>
          <a:xfrm>
            <a:off x="8001000" y="3255264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3" name="icon-3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8782" y="3343046"/>
            <a:ext cx="190195" cy="190195"/>
          </a:xfrm>
          <a:prstGeom prst="rect">
            <a:avLst/>
          </a:prstGeom>
        </p:spPr>
      </p:pic>
      <p:sp>
        <p:nvSpPr>
          <p:cNvPr id="24" name="text-36"/>
          <p:cNvSpPr txBox="1"/>
          <p:nvPr/>
        </p:nvSpPr>
        <p:spPr>
          <a:xfrm>
            <a:off x="7452360" y="3236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chemeClr val="accent4"/>
                </a:solidFill>
              </a:rPr>
              <a:t>4</a:t>
            </a:r>
            <a:endParaRPr lang="ar-SA" sz="2200" dirty="0"/>
          </a:p>
        </p:txBody>
      </p:sp>
      <p:sp>
        <p:nvSpPr>
          <p:cNvPr id="25" name="text-37"/>
          <p:cNvSpPr txBox="1"/>
          <p:nvPr/>
        </p:nvSpPr>
        <p:spPr>
          <a:xfrm>
            <a:off x="731520" y="3227832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المخيمات والاجتماعات والصناديق</a:t>
            </a:r>
            <a:endParaRPr lang="ar-SA" sz="1600" dirty="0"/>
          </a:p>
        </p:txBody>
      </p:sp>
      <p:sp>
        <p:nvSpPr>
          <p:cNvPr id="26" name="text-38"/>
          <p:cNvSpPr txBox="1"/>
          <p:nvPr/>
        </p:nvSpPr>
        <p:spPr>
          <a:xfrm>
            <a:off x="731520" y="3474720"/>
            <a:ext cx="662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accent6"/>
                </a:solidFill>
              </a:rPr>
              <a:t>المخيمات والدورات، السلامة، المحاضر، الصناديق والاشتراكات</a:t>
            </a:r>
            <a:endParaRPr lang="ar-SA" sz="1200" dirty="0"/>
          </a:p>
        </p:txBody>
      </p:sp>
      <p:sp>
        <p:nvSpPr>
          <p:cNvPr id="27" name="card-39"/>
          <p:cNvSpPr/>
          <p:nvPr/>
        </p:nvSpPr>
        <p:spPr>
          <a:xfrm>
            <a:off x="457200" y="3822192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circle-40"/>
          <p:cNvSpPr/>
          <p:nvPr/>
        </p:nvSpPr>
        <p:spPr>
          <a:xfrm>
            <a:off x="8001000" y="391363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9" name="icon-4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8782" y="4001414"/>
            <a:ext cx="190195" cy="190195"/>
          </a:xfrm>
          <a:prstGeom prst="rect">
            <a:avLst/>
          </a:prstGeom>
        </p:spPr>
      </p:pic>
      <p:sp>
        <p:nvSpPr>
          <p:cNvPr id="30" name="text-42"/>
          <p:cNvSpPr txBox="1"/>
          <p:nvPr/>
        </p:nvSpPr>
        <p:spPr>
          <a:xfrm>
            <a:off x="7452360" y="3895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chemeClr val="accent5"/>
                </a:solidFill>
              </a:rPr>
              <a:t>5</a:t>
            </a:r>
            <a:endParaRPr lang="ar-SA" sz="2200" dirty="0"/>
          </a:p>
        </p:txBody>
      </p:sp>
      <p:sp>
        <p:nvSpPr>
          <p:cNvPr id="31" name="text-43"/>
          <p:cNvSpPr txBox="1"/>
          <p:nvPr/>
        </p:nvSpPr>
        <p:spPr>
          <a:xfrm>
            <a:off x="731520" y="3886200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القادة والتقارير والأمان</a:t>
            </a:r>
            <a:endParaRPr lang="ar-SA" sz="1600" dirty="0"/>
          </a:p>
        </p:txBody>
      </p:sp>
      <p:sp>
        <p:nvSpPr>
          <p:cNvPr id="32" name="text-44"/>
          <p:cNvSpPr txBox="1"/>
          <p:nvPr/>
        </p:nvSpPr>
        <p:spPr>
          <a:xfrm>
            <a:off x="731520" y="4133088"/>
            <a:ext cx="662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accent6"/>
                </a:solidFill>
              </a:rPr>
              <a:t>الحسابات والصلاحيات، الإشعارات، التصدير، الهاتف، البيانات</a:t>
            </a:r>
            <a:endParaRPr lang="ar-SA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94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A85"/>
                </a:solidFill>
              </a:defRPr>
            </a:lvl1pPr>
          </a:lstStyle>
          <a:p>
            <a:pPr rtl="1"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12 وحدة في برنامج واحد</a:t>
            </a:r>
            <a:endParaRPr lang="ar-SA" sz="3000" dirty="0"/>
          </a:p>
        </p:txBody>
      </p:sp>
      <p:sp>
        <p:nvSpPr>
          <p:cNvPr id="3" name="card-45"/>
          <p:cNvSpPr/>
          <p:nvPr/>
        </p:nvSpPr>
        <p:spPr>
          <a:xfrm>
            <a:off x="6780276" y="1188720"/>
            <a:ext cx="1906524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4" name="circle-46"/>
          <p:cNvSpPr/>
          <p:nvPr/>
        </p:nvSpPr>
        <p:spPr>
          <a:xfrm>
            <a:off x="7495794" y="1335024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4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9911" y="1449141"/>
            <a:ext cx="247254" cy="247254"/>
          </a:xfrm>
          <a:prstGeom prst="rect">
            <a:avLst/>
          </a:prstGeom>
        </p:spPr>
      </p:pic>
      <p:sp>
        <p:nvSpPr>
          <p:cNvPr id="6" name="text-48"/>
          <p:cNvSpPr txBox="1"/>
          <p:nvPr/>
        </p:nvSpPr>
        <p:spPr>
          <a:xfrm>
            <a:off x="6871716" y="1883664"/>
            <a:ext cx="17236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chemeClr val="tx1"/>
                </a:solidFill>
              </a:rPr>
              <a:t>الصفحة الرئيسية</a:t>
            </a:r>
            <a:endParaRPr lang="ar-SA" sz="1300" dirty="0"/>
          </a:p>
        </p:txBody>
      </p:sp>
      <p:sp>
        <p:nvSpPr>
          <p:cNvPr id="7" name="card-49"/>
          <p:cNvSpPr/>
          <p:nvPr/>
        </p:nvSpPr>
        <p:spPr>
          <a:xfrm>
            <a:off x="4672584" y="1188720"/>
            <a:ext cx="1906524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8" name="circle-50"/>
          <p:cNvSpPr/>
          <p:nvPr/>
        </p:nvSpPr>
        <p:spPr>
          <a:xfrm>
            <a:off x="5388102" y="1335024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-5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2219" y="1449141"/>
            <a:ext cx="247254" cy="247254"/>
          </a:xfrm>
          <a:prstGeom prst="rect">
            <a:avLst/>
          </a:prstGeom>
        </p:spPr>
      </p:pic>
      <p:sp>
        <p:nvSpPr>
          <p:cNvPr id="10" name="text-52"/>
          <p:cNvSpPr txBox="1"/>
          <p:nvPr/>
        </p:nvSpPr>
        <p:spPr>
          <a:xfrm>
            <a:off x="4764024" y="1883664"/>
            <a:ext cx="17236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chemeClr val="tx1"/>
                </a:solidFill>
              </a:rPr>
              <a:t>الفرق</a:t>
            </a:r>
            <a:endParaRPr lang="ar-SA" sz="1300" dirty="0"/>
          </a:p>
        </p:txBody>
      </p:sp>
      <p:sp>
        <p:nvSpPr>
          <p:cNvPr id="11" name="card-53"/>
          <p:cNvSpPr/>
          <p:nvPr/>
        </p:nvSpPr>
        <p:spPr>
          <a:xfrm>
            <a:off x="2564892" y="1188720"/>
            <a:ext cx="1906524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12" name="circle-54"/>
          <p:cNvSpPr/>
          <p:nvPr/>
        </p:nvSpPr>
        <p:spPr>
          <a:xfrm>
            <a:off x="3280410" y="1335024"/>
            <a:ext cx="475488" cy="47548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con-5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527" y="1449141"/>
            <a:ext cx="247254" cy="247254"/>
          </a:xfrm>
          <a:prstGeom prst="rect">
            <a:avLst/>
          </a:prstGeom>
        </p:spPr>
      </p:pic>
      <p:sp>
        <p:nvSpPr>
          <p:cNvPr id="14" name="text-56"/>
          <p:cNvSpPr txBox="1"/>
          <p:nvPr/>
        </p:nvSpPr>
        <p:spPr>
          <a:xfrm>
            <a:off x="2656332" y="1883664"/>
            <a:ext cx="17236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chemeClr val="tx1"/>
                </a:solidFill>
              </a:rPr>
              <a:t>العناصر</a:t>
            </a:r>
            <a:endParaRPr lang="ar-SA" sz="1300" dirty="0"/>
          </a:p>
        </p:txBody>
      </p:sp>
      <p:sp>
        <p:nvSpPr>
          <p:cNvPr id="15" name="card-57"/>
          <p:cNvSpPr/>
          <p:nvPr/>
        </p:nvSpPr>
        <p:spPr>
          <a:xfrm>
            <a:off x="457200" y="1188720"/>
            <a:ext cx="1906524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16" name="circle-58"/>
          <p:cNvSpPr/>
          <p:nvPr/>
        </p:nvSpPr>
        <p:spPr>
          <a:xfrm>
            <a:off x="1172718" y="1335024"/>
            <a:ext cx="475488" cy="47548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7" name="icon-5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6835" y="1449141"/>
            <a:ext cx="247254" cy="247254"/>
          </a:xfrm>
          <a:prstGeom prst="rect">
            <a:avLst/>
          </a:prstGeom>
        </p:spPr>
      </p:pic>
      <p:sp>
        <p:nvSpPr>
          <p:cNvPr id="18" name="text-60"/>
          <p:cNvSpPr txBox="1"/>
          <p:nvPr/>
        </p:nvSpPr>
        <p:spPr>
          <a:xfrm>
            <a:off x="548640" y="1883664"/>
            <a:ext cx="17236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chemeClr val="tx1"/>
                </a:solidFill>
              </a:rPr>
              <a:t>الأنشطة</a:t>
            </a:r>
            <a:endParaRPr lang="ar-SA" sz="1300" dirty="0"/>
          </a:p>
        </p:txBody>
      </p:sp>
      <p:sp>
        <p:nvSpPr>
          <p:cNvPr id="19" name="card-61"/>
          <p:cNvSpPr/>
          <p:nvPr/>
        </p:nvSpPr>
        <p:spPr>
          <a:xfrm>
            <a:off x="6780276" y="2468880"/>
            <a:ext cx="1906524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20" name="circle-62"/>
          <p:cNvSpPr/>
          <p:nvPr/>
        </p:nvSpPr>
        <p:spPr>
          <a:xfrm>
            <a:off x="7495794" y="2615184"/>
            <a:ext cx="475488" cy="47548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icon-6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9911" y="2729301"/>
            <a:ext cx="247254" cy="247254"/>
          </a:xfrm>
          <a:prstGeom prst="rect">
            <a:avLst/>
          </a:prstGeom>
        </p:spPr>
      </p:pic>
      <p:sp>
        <p:nvSpPr>
          <p:cNvPr id="22" name="text-64"/>
          <p:cNvSpPr txBox="1"/>
          <p:nvPr/>
        </p:nvSpPr>
        <p:spPr>
          <a:xfrm>
            <a:off x="6871716" y="3163824"/>
            <a:ext cx="17236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chemeClr val="tx1"/>
                </a:solidFill>
              </a:rPr>
              <a:t>بطاقات التحضير</a:t>
            </a:r>
            <a:endParaRPr lang="ar-SA" sz="1300" dirty="0"/>
          </a:p>
        </p:txBody>
      </p:sp>
      <p:sp>
        <p:nvSpPr>
          <p:cNvPr id="23" name="card-65"/>
          <p:cNvSpPr/>
          <p:nvPr/>
        </p:nvSpPr>
        <p:spPr>
          <a:xfrm>
            <a:off x="4672584" y="2468880"/>
            <a:ext cx="1906524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24" name="circle-66"/>
          <p:cNvSpPr/>
          <p:nvPr/>
        </p:nvSpPr>
        <p:spPr>
          <a:xfrm>
            <a:off x="5388102" y="2615184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con-67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2219" y="2729301"/>
            <a:ext cx="247254" cy="247254"/>
          </a:xfrm>
          <a:prstGeom prst="rect">
            <a:avLst/>
          </a:prstGeom>
        </p:spPr>
      </p:pic>
      <p:sp>
        <p:nvSpPr>
          <p:cNvPr id="26" name="text-68"/>
          <p:cNvSpPr txBox="1"/>
          <p:nvPr/>
        </p:nvSpPr>
        <p:spPr>
          <a:xfrm>
            <a:off x="4764024" y="3163824"/>
            <a:ext cx="17236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chemeClr val="tx1"/>
                </a:solidFill>
              </a:rPr>
              <a:t>المخيمات والدورات</a:t>
            </a:r>
            <a:endParaRPr lang="ar-SA" sz="1300" dirty="0"/>
          </a:p>
        </p:txBody>
      </p:sp>
      <p:sp>
        <p:nvSpPr>
          <p:cNvPr id="27" name="card-69"/>
          <p:cNvSpPr/>
          <p:nvPr/>
        </p:nvSpPr>
        <p:spPr>
          <a:xfrm>
            <a:off x="2564892" y="2468880"/>
            <a:ext cx="1906524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28" name="circle-70"/>
          <p:cNvSpPr/>
          <p:nvPr/>
        </p:nvSpPr>
        <p:spPr>
          <a:xfrm>
            <a:off x="3280410" y="2615184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9" name="icon-71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4527" y="2729301"/>
            <a:ext cx="247254" cy="247254"/>
          </a:xfrm>
          <a:prstGeom prst="rect">
            <a:avLst/>
          </a:prstGeom>
        </p:spPr>
      </p:pic>
      <p:sp>
        <p:nvSpPr>
          <p:cNvPr id="30" name="text-72"/>
          <p:cNvSpPr txBox="1"/>
          <p:nvPr/>
        </p:nvSpPr>
        <p:spPr>
          <a:xfrm>
            <a:off x="2656332" y="3163824"/>
            <a:ext cx="17236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chemeClr val="tx1"/>
                </a:solidFill>
              </a:rPr>
              <a:t>الاجتماعات</a:t>
            </a:r>
            <a:endParaRPr lang="ar-SA" sz="1300" dirty="0"/>
          </a:p>
        </p:txBody>
      </p:sp>
      <p:sp>
        <p:nvSpPr>
          <p:cNvPr id="31" name="card-73"/>
          <p:cNvSpPr/>
          <p:nvPr/>
        </p:nvSpPr>
        <p:spPr>
          <a:xfrm>
            <a:off x="457200" y="2468880"/>
            <a:ext cx="1906524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32" name="circle-74"/>
          <p:cNvSpPr/>
          <p:nvPr/>
        </p:nvSpPr>
        <p:spPr>
          <a:xfrm>
            <a:off x="1172718" y="2615184"/>
            <a:ext cx="475488" cy="47548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3" name="icon-7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6835" y="2729301"/>
            <a:ext cx="247254" cy="247254"/>
          </a:xfrm>
          <a:prstGeom prst="rect">
            <a:avLst/>
          </a:prstGeom>
        </p:spPr>
      </p:pic>
      <p:sp>
        <p:nvSpPr>
          <p:cNvPr id="34" name="text-76"/>
          <p:cNvSpPr txBox="1"/>
          <p:nvPr/>
        </p:nvSpPr>
        <p:spPr>
          <a:xfrm>
            <a:off x="548640" y="3163824"/>
            <a:ext cx="17236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chemeClr val="tx1"/>
                </a:solidFill>
              </a:rPr>
              <a:t>الصناديق</a:t>
            </a:r>
            <a:endParaRPr lang="ar-SA" sz="1300" dirty="0"/>
          </a:p>
        </p:txBody>
      </p:sp>
      <p:sp>
        <p:nvSpPr>
          <p:cNvPr id="35" name="card-77"/>
          <p:cNvSpPr/>
          <p:nvPr/>
        </p:nvSpPr>
        <p:spPr>
          <a:xfrm>
            <a:off x="6780276" y="3749040"/>
            <a:ext cx="1906524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36" name="circle-78"/>
          <p:cNvSpPr/>
          <p:nvPr/>
        </p:nvSpPr>
        <p:spPr>
          <a:xfrm>
            <a:off x="7495794" y="3895344"/>
            <a:ext cx="475488" cy="47548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7" name="icon-7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09911" y="4009461"/>
            <a:ext cx="247254" cy="247254"/>
          </a:xfrm>
          <a:prstGeom prst="rect">
            <a:avLst/>
          </a:prstGeom>
        </p:spPr>
      </p:pic>
      <p:sp>
        <p:nvSpPr>
          <p:cNvPr id="38" name="text-80"/>
          <p:cNvSpPr txBox="1"/>
          <p:nvPr/>
        </p:nvSpPr>
        <p:spPr>
          <a:xfrm>
            <a:off x="6871716" y="4443984"/>
            <a:ext cx="17236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chemeClr val="tx1"/>
                </a:solidFill>
              </a:rPr>
              <a:t>الترفيع</a:t>
            </a:r>
            <a:endParaRPr lang="ar-SA" sz="1300" dirty="0"/>
          </a:p>
        </p:txBody>
      </p:sp>
      <p:sp>
        <p:nvSpPr>
          <p:cNvPr id="39" name="card-81"/>
          <p:cNvSpPr/>
          <p:nvPr/>
        </p:nvSpPr>
        <p:spPr>
          <a:xfrm>
            <a:off x="4672584" y="3749040"/>
            <a:ext cx="1906524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40" name="circle-82"/>
          <p:cNvSpPr/>
          <p:nvPr/>
        </p:nvSpPr>
        <p:spPr>
          <a:xfrm>
            <a:off x="5388102" y="3895344"/>
            <a:ext cx="475488" cy="47548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1" name="icon-83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02219" y="4009461"/>
            <a:ext cx="247254" cy="247254"/>
          </a:xfrm>
          <a:prstGeom prst="rect">
            <a:avLst/>
          </a:prstGeom>
        </p:spPr>
      </p:pic>
      <p:sp>
        <p:nvSpPr>
          <p:cNvPr id="42" name="text-84"/>
          <p:cNvSpPr txBox="1"/>
          <p:nvPr/>
        </p:nvSpPr>
        <p:spPr>
          <a:xfrm>
            <a:off x="4764024" y="4443984"/>
            <a:ext cx="17236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chemeClr val="tx1"/>
                </a:solidFill>
              </a:rPr>
              <a:t>القادة</a:t>
            </a:r>
            <a:endParaRPr lang="ar-SA" sz="1300" dirty="0"/>
          </a:p>
        </p:txBody>
      </p:sp>
      <p:sp>
        <p:nvSpPr>
          <p:cNvPr id="43" name="card-85"/>
          <p:cNvSpPr/>
          <p:nvPr/>
        </p:nvSpPr>
        <p:spPr>
          <a:xfrm>
            <a:off x="2564892" y="3749040"/>
            <a:ext cx="1906524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44" name="circle-86"/>
          <p:cNvSpPr/>
          <p:nvPr/>
        </p:nvSpPr>
        <p:spPr>
          <a:xfrm>
            <a:off x="3280410" y="3895344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5" name="icon-87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94527" y="4009461"/>
            <a:ext cx="247254" cy="247254"/>
          </a:xfrm>
          <a:prstGeom prst="rect">
            <a:avLst/>
          </a:prstGeom>
        </p:spPr>
      </p:pic>
      <p:sp>
        <p:nvSpPr>
          <p:cNvPr id="46" name="text-88"/>
          <p:cNvSpPr txBox="1"/>
          <p:nvPr/>
        </p:nvSpPr>
        <p:spPr>
          <a:xfrm>
            <a:off x="2656332" y="4443984"/>
            <a:ext cx="17236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chemeClr val="tx1"/>
                </a:solidFill>
              </a:rPr>
              <a:t>الإشعارات</a:t>
            </a:r>
            <a:endParaRPr lang="ar-SA" sz="1300" dirty="0"/>
          </a:p>
        </p:txBody>
      </p:sp>
      <p:sp>
        <p:nvSpPr>
          <p:cNvPr id="47" name="card-89"/>
          <p:cNvSpPr/>
          <p:nvPr/>
        </p:nvSpPr>
        <p:spPr>
          <a:xfrm>
            <a:off x="457200" y="3749040"/>
            <a:ext cx="1906524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48" name="circle-90"/>
          <p:cNvSpPr/>
          <p:nvPr/>
        </p:nvSpPr>
        <p:spPr>
          <a:xfrm>
            <a:off x="1172718" y="3895344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9" name="icon-9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86835" y="4009461"/>
            <a:ext cx="247254" cy="247254"/>
          </a:xfrm>
          <a:prstGeom prst="rect">
            <a:avLst/>
          </a:prstGeom>
        </p:spPr>
      </p:pic>
      <p:sp>
        <p:nvSpPr>
          <p:cNvPr id="50" name="text-92"/>
          <p:cNvSpPr txBox="1"/>
          <p:nvPr/>
        </p:nvSpPr>
        <p:spPr>
          <a:xfrm>
            <a:off x="548640" y="4443984"/>
            <a:ext cx="17236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chemeClr val="tx1"/>
                </a:solidFill>
              </a:rPr>
              <a:t>الإعدادات والإدارة</a:t>
            </a:r>
            <a:endParaRPr lang="ar-SA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94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A85"/>
                </a:solidFill>
              </a:defRPr>
            </a:lvl1pPr>
          </a:lstStyle>
          <a:p>
            <a:pPr rtl="1"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93"/>
          <p:cNvSpPr txBox="1"/>
          <p:nvPr/>
        </p:nvSpPr>
        <p:spPr>
          <a:xfrm>
            <a:off x="7223760" y="7315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6000" b="1" dirty="0">
                <a:solidFill>
                  <a:schemeClr val="accent2"/>
                </a:solidFill>
              </a:rPr>
              <a:t>1</a:t>
            </a:r>
            <a:endParaRPr lang="ar-SA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البنية والعناصر</a:t>
            </a:r>
            <a:endParaRPr lang="ar-SA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457200" y="2880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bg2"/>
                </a:solidFill>
              </a:rPr>
              <a:t>من القسم إلى الطليعة، الصفحة الرئيسية، ملف العنصر، والقبول</a:t>
            </a:r>
            <a:endParaRPr lang="ar-SA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التنظيم: من القسم إلى الطليعة</a:t>
            </a:r>
            <a:endParaRPr lang="ar-SA" sz="3000" dirty="0"/>
          </a:p>
        </p:txBody>
      </p:sp>
      <p:sp>
        <p:nvSpPr>
          <p:cNvPr id="3" name="tier-94"/>
          <p:cNvSpPr/>
          <p:nvPr/>
        </p:nvSpPr>
        <p:spPr>
          <a:xfrm>
            <a:off x="7315200" y="1234440"/>
            <a:ext cx="1371600" cy="1051560"/>
          </a:xfrm>
          <a:prstGeom prst="roundRect">
            <a:avLst>
              <a:gd name="adj" fmla="val 1043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-95"/>
          <p:cNvSpPr txBox="1"/>
          <p:nvPr/>
        </p:nvSpPr>
        <p:spPr>
          <a:xfrm>
            <a:off x="7315200" y="123444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القسم</a:t>
            </a:r>
            <a:endParaRPr lang="ar-SA" sz="2000" dirty="0"/>
          </a:p>
        </p:txBody>
      </p:sp>
      <p:sp>
        <p:nvSpPr>
          <p:cNvPr id="5" name="card-96"/>
          <p:cNvSpPr/>
          <p:nvPr/>
        </p:nvSpPr>
        <p:spPr>
          <a:xfrm>
            <a:off x="457200" y="1234440"/>
            <a:ext cx="67208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hip-97"/>
          <p:cNvSpPr/>
          <p:nvPr/>
        </p:nvSpPr>
        <p:spPr>
          <a:xfrm>
            <a:off x="6067044" y="1399032"/>
            <a:ext cx="928116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7" name="text-98"/>
          <p:cNvSpPr txBox="1"/>
          <p:nvPr/>
        </p:nvSpPr>
        <p:spPr>
          <a:xfrm>
            <a:off x="6067044" y="1399032"/>
            <a:ext cx="928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chemeClr val="tx2"/>
                </a:solidFill>
              </a:rPr>
              <a:t>الفتيان</a:t>
            </a:r>
            <a:endParaRPr lang="ar-SA" sz="1250" dirty="0"/>
          </a:p>
        </p:txBody>
      </p:sp>
      <p:sp>
        <p:nvSpPr>
          <p:cNvPr id="8" name="chip-99"/>
          <p:cNvSpPr/>
          <p:nvPr/>
        </p:nvSpPr>
        <p:spPr>
          <a:xfrm>
            <a:off x="5029200" y="1399032"/>
            <a:ext cx="928116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9" name="text-100"/>
          <p:cNvSpPr txBox="1"/>
          <p:nvPr/>
        </p:nvSpPr>
        <p:spPr>
          <a:xfrm>
            <a:off x="5029200" y="1399032"/>
            <a:ext cx="928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chemeClr val="tx2"/>
                </a:solidFill>
              </a:rPr>
              <a:t>الفتيات</a:t>
            </a:r>
            <a:endParaRPr lang="ar-SA" sz="1250" dirty="0"/>
          </a:p>
        </p:txBody>
      </p:sp>
      <p:sp>
        <p:nvSpPr>
          <p:cNvPr id="10" name="text-101"/>
          <p:cNvSpPr txBox="1"/>
          <p:nvPr/>
        </p:nvSpPr>
        <p:spPr>
          <a:xfrm>
            <a:off x="685800" y="18745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عزل تام بين القسمين، والمسؤول يتنقل بينهما</a:t>
            </a:r>
            <a:endParaRPr lang="ar-SA" sz="1250" dirty="0"/>
          </a:p>
        </p:txBody>
      </p:sp>
      <p:sp>
        <p:nvSpPr>
          <p:cNvPr id="11" name="tier-102"/>
          <p:cNvSpPr/>
          <p:nvPr/>
        </p:nvSpPr>
        <p:spPr>
          <a:xfrm>
            <a:off x="7315200" y="2395728"/>
            <a:ext cx="1371600" cy="1051560"/>
          </a:xfrm>
          <a:prstGeom prst="roundRect">
            <a:avLst>
              <a:gd name="adj" fmla="val 1043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-103"/>
          <p:cNvSpPr txBox="1"/>
          <p:nvPr/>
        </p:nvSpPr>
        <p:spPr>
          <a:xfrm>
            <a:off x="7315200" y="2395728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الفرق</a:t>
            </a:r>
            <a:endParaRPr lang="ar-SA" sz="2000" dirty="0"/>
          </a:p>
        </p:txBody>
      </p:sp>
      <p:sp>
        <p:nvSpPr>
          <p:cNvPr id="13" name="card-104"/>
          <p:cNvSpPr/>
          <p:nvPr/>
        </p:nvSpPr>
        <p:spPr>
          <a:xfrm>
            <a:off x="457200" y="2395728"/>
            <a:ext cx="67208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hip-105"/>
          <p:cNvSpPr/>
          <p:nvPr/>
        </p:nvSpPr>
        <p:spPr>
          <a:xfrm>
            <a:off x="6067044" y="2560320"/>
            <a:ext cx="928116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5" name="text-106"/>
          <p:cNvSpPr txBox="1"/>
          <p:nvPr/>
        </p:nvSpPr>
        <p:spPr>
          <a:xfrm>
            <a:off x="6067044" y="2560320"/>
            <a:ext cx="928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chemeClr val="tx2"/>
                </a:solidFill>
              </a:rPr>
              <a:t>البراعم</a:t>
            </a:r>
            <a:endParaRPr lang="ar-SA" sz="1250" dirty="0"/>
          </a:p>
        </p:txBody>
      </p:sp>
      <p:sp>
        <p:nvSpPr>
          <p:cNvPr id="16" name="chip-107"/>
          <p:cNvSpPr/>
          <p:nvPr/>
        </p:nvSpPr>
        <p:spPr>
          <a:xfrm>
            <a:off x="5029200" y="2560320"/>
            <a:ext cx="928116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" name="text-108"/>
          <p:cNvSpPr txBox="1"/>
          <p:nvPr/>
        </p:nvSpPr>
        <p:spPr>
          <a:xfrm>
            <a:off x="5029200" y="2560320"/>
            <a:ext cx="928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chemeClr val="tx2"/>
                </a:solidFill>
              </a:rPr>
              <a:t>الأشبال</a:t>
            </a:r>
            <a:endParaRPr lang="ar-SA" sz="1250" dirty="0"/>
          </a:p>
        </p:txBody>
      </p:sp>
      <p:sp>
        <p:nvSpPr>
          <p:cNvPr id="18" name="chip-109"/>
          <p:cNvSpPr/>
          <p:nvPr/>
        </p:nvSpPr>
        <p:spPr>
          <a:xfrm>
            <a:off x="3991356" y="2560320"/>
            <a:ext cx="928116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9" name="text-110"/>
          <p:cNvSpPr txBox="1"/>
          <p:nvPr/>
        </p:nvSpPr>
        <p:spPr>
          <a:xfrm>
            <a:off x="3991356" y="2560320"/>
            <a:ext cx="928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chemeClr val="tx2"/>
                </a:solidFill>
              </a:rPr>
              <a:t>الكشافة</a:t>
            </a:r>
            <a:endParaRPr lang="ar-SA" sz="1250" dirty="0"/>
          </a:p>
        </p:txBody>
      </p:sp>
      <p:sp>
        <p:nvSpPr>
          <p:cNvPr id="20" name="chip-111"/>
          <p:cNvSpPr/>
          <p:nvPr/>
        </p:nvSpPr>
        <p:spPr>
          <a:xfrm>
            <a:off x="2953512" y="2560320"/>
            <a:ext cx="928116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1" name="text-112"/>
          <p:cNvSpPr txBox="1"/>
          <p:nvPr/>
        </p:nvSpPr>
        <p:spPr>
          <a:xfrm>
            <a:off x="2953512" y="2560320"/>
            <a:ext cx="928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chemeClr val="tx2"/>
                </a:solidFill>
              </a:rPr>
              <a:t>الجوالة</a:t>
            </a:r>
            <a:endParaRPr lang="ar-SA" sz="1250" dirty="0"/>
          </a:p>
        </p:txBody>
      </p:sp>
      <p:sp>
        <p:nvSpPr>
          <p:cNvPr id="22" name="chip-113"/>
          <p:cNvSpPr/>
          <p:nvPr/>
        </p:nvSpPr>
        <p:spPr>
          <a:xfrm>
            <a:off x="1915668" y="2560320"/>
            <a:ext cx="928116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3" name="text-114"/>
          <p:cNvSpPr txBox="1"/>
          <p:nvPr/>
        </p:nvSpPr>
        <p:spPr>
          <a:xfrm>
            <a:off x="1915668" y="2560320"/>
            <a:ext cx="928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chemeClr val="tx2"/>
                </a:solidFill>
              </a:rPr>
              <a:t>العلياء</a:t>
            </a:r>
            <a:endParaRPr lang="ar-SA" sz="1250" dirty="0"/>
          </a:p>
        </p:txBody>
      </p:sp>
      <p:sp>
        <p:nvSpPr>
          <p:cNvPr id="24" name="chip-115"/>
          <p:cNvSpPr/>
          <p:nvPr/>
        </p:nvSpPr>
        <p:spPr>
          <a:xfrm>
            <a:off x="-82296" y="2560320"/>
            <a:ext cx="1888236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5" name="text-116"/>
          <p:cNvSpPr txBox="1"/>
          <p:nvPr/>
        </p:nvSpPr>
        <p:spPr>
          <a:xfrm>
            <a:off x="-82296" y="2560320"/>
            <a:ext cx="1888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chemeClr val="tx2"/>
                </a:solidFill>
              </a:rPr>
              <a:t>الفرع الفرنكوفوني</a:t>
            </a:r>
            <a:endParaRPr lang="ar-SA" sz="1250" dirty="0"/>
          </a:p>
        </p:txBody>
      </p:sp>
      <p:sp>
        <p:nvSpPr>
          <p:cNvPr id="26" name="text-117"/>
          <p:cNvSpPr txBox="1"/>
          <p:nvPr/>
        </p:nvSpPr>
        <p:spPr>
          <a:xfrm>
            <a:off x="685800" y="303580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لكل فرقة قائدها، خطتها، صندوقها، ومطالبها</a:t>
            </a:r>
            <a:endParaRPr lang="ar-SA" sz="1250" dirty="0"/>
          </a:p>
        </p:txBody>
      </p:sp>
      <p:sp>
        <p:nvSpPr>
          <p:cNvPr id="27" name="tier-118"/>
          <p:cNvSpPr/>
          <p:nvPr/>
        </p:nvSpPr>
        <p:spPr>
          <a:xfrm>
            <a:off x="7315200" y="3557016"/>
            <a:ext cx="1371600" cy="1051560"/>
          </a:xfrm>
          <a:prstGeom prst="roundRect">
            <a:avLst>
              <a:gd name="adj" fmla="val 1043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-119"/>
          <p:cNvSpPr txBox="1"/>
          <p:nvPr/>
        </p:nvSpPr>
        <p:spPr>
          <a:xfrm>
            <a:off x="7315200" y="3557016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الطلائع</a:t>
            </a:r>
            <a:endParaRPr lang="ar-SA" sz="2000" dirty="0"/>
          </a:p>
        </p:txBody>
      </p:sp>
      <p:sp>
        <p:nvSpPr>
          <p:cNvPr id="29" name="card-120"/>
          <p:cNvSpPr/>
          <p:nvPr/>
        </p:nvSpPr>
        <p:spPr>
          <a:xfrm>
            <a:off x="457200" y="3557016"/>
            <a:ext cx="67208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chip-121"/>
          <p:cNvSpPr/>
          <p:nvPr/>
        </p:nvSpPr>
        <p:spPr>
          <a:xfrm>
            <a:off x="5875020" y="3721608"/>
            <a:ext cx="112014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1" name="text-122"/>
          <p:cNvSpPr txBox="1"/>
          <p:nvPr/>
        </p:nvSpPr>
        <p:spPr>
          <a:xfrm>
            <a:off x="5875020" y="3721608"/>
            <a:ext cx="1120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chemeClr val="tx2"/>
                </a:solidFill>
              </a:rPr>
              <a:t>حسب العمر</a:t>
            </a:r>
            <a:endParaRPr lang="ar-SA" sz="1250" dirty="0"/>
          </a:p>
        </p:txBody>
      </p:sp>
      <p:sp>
        <p:nvSpPr>
          <p:cNvPr id="32" name="chip-123"/>
          <p:cNvSpPr/>
          <p:nvPr/>
        </p:nvSpPr>
        <p:spPr>
          <a:xfrm>
            <a:off x="4261104" y="3721608"/>
            <a:ext cx="1504188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3" name="text-124"/>
          <p:cNvSpPr txBox="1"/>
          <p:nvPr/>
        </p:nvSpPr>
        <p:spPr>
          <a:xfrm>
            <a:off x="4261104" y="3721608"/>
            <a:ext cx="15041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chemeClr val="tx2"/>
                </a:solidFill>
              </a:rPr>
              <a:t>5 إلى 8 عناصر</a:t>
            </a:r>
            <a:endParaRPr lang="ar-SA" sz="1250" dirty="0"/>
          </a:p>
        </p:txBody>
      </p:sp>
      <p:sp>
        <p:nvSpPr>
          <p:cNvPr id="34" name="chip-125"/>
          <p:cNvSpPr/>
          <p:nvPr/>
        </p:nvSpPr>
        <p:spPr>
          <a:xfrm>
            <a:off x="2743200" y="3721608"/>
            <a:ext cx="1408176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5" name="text-126"/>
          <p:cNvSpPr txBox="1"/>
          <p:nvPr/>
        </p:nvSpPr>
        <p:spPr>
          <a:xfrm>
            <a:off x="2743200" y="372160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chemeClr val="tx2"/>
                </a:solidFill>
              </a:rPr>
              <a:t>عريف + مساعد</a:t>
            </a:r>
            <a:endParaRPr lang="ar-SA" sz="1250" dirty="0"/>
          </a:p>
        </p:txBody>
      </p:sp>
      <p:sp>
        <p:nvSpPr>
          <p:cNvPr id="36" name="text-127"/>
          <p:cNvSpPr txBox="1"/>
          <p:nvPr/>
        </p:nvSpPr>
        <p:spPr>
          <a:xfrm>
            <a:off x="685800" y="419709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نظام الجماعات الصغيرة، مع إعادة توزيع تلقائية حسب العمر</a:t>
            </a:r>
            <a:endParaRPr lang="ar-SA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94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A85"/>
                </a:solidFill>
              </a:defRPr>
            </a:lvl1pPr>
          </a:lstStyle>
          <a:p>
            <a:pPr rtl="1"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الصفحة الرئيسية: الوضع في لمحة</a:t>
            </a:r>
            <a:endParaRPr lang="ar-SA" sz="3000" dirty="0"/>
          </a:p>
        </p:txBody>
      </p:sp>
      <p:sp>
        <p:nvSpPr>
          <p:cNvPr id="3" name="frame-128"/>
          <p:cNvSpPr/>
          <p:nvPr/>
        </p:nvSpPr>
        <p:spPr>
          <a:xfrm>
            <a:off x="420624" y="1197864"/>
            <a:ext cx="5193792" cy="3273552"/>
          </a:xfrm>
          <a:prstGeom prst="roundRect">
            <a:avLst>
              <a:gd name="adj" fmla="val 2793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pic>
        <p:nvPicPr>
          <p:cNvPr id="4" name="shot-12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120640" cy="3200400"/>
          </a:xfrm>
          <a:prstGeom prst="rect">
            <a:avLst/>
          </a:prstGeom>
        </p:spPr>
      </p:pic>
      <p:sp>
        <p:nvSpPr>
          <p:cNvPr id="5" name="circle-130"/>
          <p:cNvSpPr/>
          <p:nvPr/>
        </p:nvSpPr>
        <p:spPr>
          <a:xfrm>
            <a:off x="822960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13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1389888"/>
            <a:ext cx="237744" cy="237744"/>
          </a:xfrm>
          <a:prstGeom prst="rect">
            <a:avLst/>
          </a:prstGeom>
        </p:spPr>
      </p:pic>
      <p:sp>
        <p:nvSpPr>
          <p:cNvPr id="7" name="text-132"/>
          <p:cNvSpPr txBox="1"/>
          <p:nvPr/>
        </p:nvSpPr>
        <p:spPr>
          <a:xfrm>
            <a:off x="5897880" y="12618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مؤشرات الشهر</a:t>
            </a:r>
            <a:endParaRPr lang="ar-SA" sz="1600" dirty="0"/>
          </a:p>
        </p:txBody>
      </p:sp>
      <p:sp>
        <p:nvSpPr>
          <p:cNvPr id="8" name="text-133"/>
          <p:cNvSpPr txBox="1"/>
          <p:nvPr/>
        </p:nvSpPr>
        <p:spPr>
          <a:xfrm>
            <a:off x="5897880" y="15361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العناصر الفعّالون، نسبة الحضور، عدد الأنشطة، الاشتراكات</a:t>
            </a:r>
            <a:endParaRPr lang="ar-SA" sz="1250" dirty="0"/>
          </a:p>
        </p:txBody>
      </p:sp>
      <p:sp>
        <p:nvSpPr>
          <p:cNvPr id="9" name="circle-134"/>
          <p:cNvSpPr/>
          <p:nvPr/>
        </p:nvSpPr>
        <p:spPr>
          <a:xfrm>
            <a:off x="8229600" y="21031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icon-13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2212848"/>
            <a:ext cx="237744" cy="237744"/>
          </a:xfrm>
          <a:prstGeom prst="rect">
            <a:avLst/>
          </a:prstGeom>
        </p:spPr>
      </p:pic>
      <p:sp>
        <p:nvSpPr>
          <p:cNvPr id="11" name="text-136"/>
          <p:cNvSpPr txBox="1"/>
          <p:nvPr/>
        </p:nvSpPr>
        <p:spPr>
          <a:xfrm>
            <a:off x="5897880" y="20848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بحاجة إلى إجراء</a:t>
            </a:r>
            <a:endParaRPr lang="ar-SA" sz="1600" dirty="0"/>
          </a:p>
        </p:txBody>
      </p:sp>
      <p:sp>
        <p:nvSpPr>
          <p:cNvPr id="12" name="text-137"/>
          <p:cNvSpPr txBox="1"/>
          <p:nvPr/>
        </p:nvSpPr>
        <p:spPr>
          <a:xfrm>
            <a:off x="5897880" y="23591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أنشطة بلا تخطيط، اشتراكات غير مسجّلة، ترفيعات في الانتظار</a:t>
            </a:r>
            <a:endParaRPr lang="ar-SA" sz="1250" dirty="0"/>
          </a:p>
        </p:txBody>
      </p:sp>
      <p:sp>
        <p:nvSpPr>
          <p:cNvPr id="13" name="circle-138"/>
          <p:cNvSpPr/>
          <p:nvPr/>
        </p:nvSpPr>
        <p:spPr>
          <a:xfrm>
            <a:off x="8229600" y="29260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con-13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3035808"/>
            <a:ext cx="237744" cy="237744"/>
          </a:xfrm>
          <a:prstGeom prst="rect">
            <a:avLst/>
          </a:prstGeom>
        </p:spPr>
      </p:pic>
      <p:sp>
        <p:nvSpPr>
          <p:cNvPr id="15" name="text-140"/>
          <p:cNvSpPr txBox="1"/>
          <p:nvPr/>
        </p:nvSpPr>
        <p:spPr>
          <a:xfrm>
            <a:off x="5897880" y="29077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الأجندة ومهامي</a:t>
            </a:r>
            <a:endParaRPr lang="ar-SA" sz="1600" dirty="0"/>
          </a:p>
        </p:txBody>
      </p:sp>
      <p:sp>
        <p:nvSpPr>
          <p:cNvPr id="16" name="text-141"/>
          <p:cNvSpPr txBox="1"/>
          <p:nvPr/>
        </p:nvSpPr>
        <p:spPr>
          <a:xfrm>
            <a:off x="5897880" y="31821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ما هو آت هذا الأسبوع، ومهام القائد المتأخرة</a:t>
            </a:r>
            <a:endParaRPr lang="ar-SA" sz="1250" dirty="0"/>
          </a:p>
        </p:txBody>
      </p:sp>
      <p:sp>
        <p:nvSpPr>
          <p:cNvPr id="17" name="circle-142"/>
          <p:cNvSpPr/>
          <p:nvPr/>
        </p:nvSpPr>
        <p:spPr>
          <a:xfrm>
            <a:off x="8229600" y="37490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icon-14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8" y="3858768"/>
            <a:ext cx="237744" cy="237744"/>
          </a:xfrm>
          <a:prstGeom prst="rect">
            <a:avLst/>
          </a:prstGeom>
        </p:spPr>
      </p:pic>
      <p:sp>
        <p:nvSpPr>
          <p:cNvPr id="19" name="text-144"/>
          <p:cNvSpPr txBox="1"/>
          <p:nvPr/>
        </p:nvSpPr>
        <p:spPr>
          <a:xfrm>
            <a:off x="5897880" y="37307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جدول الفرق</a:t>
            </a:r>
            <a:endParaRPr lang="ar-SA" sz="1600" dirty="0"/>
          </a:p>
        </p:txBody>
      </p:sp>
      <p:sp>
        <p:nvSpPr>
          <p:cNvPr id="20" name="text-145"/>
          <p:cNvSpPr txBox="1"/>
          <p:nvPr/>
        </p:nvSpPr>
        <p:spPr>
          <a:xfrm>
            <a:off x="5897880" y="40050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كل فرقة: العناصر، الحضور، آخر نشاط، للمتابعة، الخطة</a:t>
            </a:r>
            <a:endParaRPr lang="ar-SA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94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A85"/>
                </a:solidFill>
              </a:defRPr>
            </a:lvl1pPr>
          </a:lstStyle>
          <a:p>
            <a:pPr rtl="1"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العناصر: ملف كامل لكل عنصر</a:t>
            </a:r>
            <a:endParaRPr lang="ar-SA" sz="3000" dirty="0"/>
          </a:p>
        </p:txBody>
      </p:sp>
      <p:sp>
        <p:nvSpPr>
          <p:cNvPr id="3" name="frame-146"/>
          <p:cNvSpPr/>
          <p:nvPr/>
        </p:nvSpPr>
        <p:spPr>
          <a:xfrm>
            <a:off x="420624" y="1197864"/>
            <a:ext cx="5010912" cy="3159252"/>
          </a:xfrm>
          <a:prstGeom prst="roundRect">
            <a:avLst>
              <a:gd name="adj" fmla="val 2894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pic>
        <p:nvPicPr>
          <p:cNvPr id="4" name="shot-14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937760" cy="3086100"/>
          </a:xfrm>
          <a:prstGeom prst="rect">
            <a:avLst/>
          </a:prstGeom>
        </p:spPr>
      </p:pic>
      <p:sp>
        <p:nvSpPr>
          <p:cNvPr id="5" name="circle-148"/>
          <p:cNvSpPr/>
          <p:nvPr/>
        </p:nvSpPr>
        <p:spPr>
          <a:xfrm>
            <a:off x="8302752" y="12984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14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924" y="1390620"/>
            <a:ext cx="199705" cy="199705"/>
          </a:xfrm>
          <a:prstGeom prst="rect">
            <a:avLst/>
          </a:prstGeom>
        </p:spPr>
      </p:pic>
      <p:sp>
        <p:nvSpPr>
          <p:cNvPr id="7" name="text-150"/>
          <p:cNvSpPr txBox="1"/>
          <p:nvPr/>
        </p:nvSpPr>
        <p:spPr>
          <a:xfrm>
            <a:off x="5715000" y="12984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tx1"/>
                </a:solidFill>
              </a:rPr>
              <a:t>الهوية والأهل: الاسم، الميلاد، المدرسة، هاتف الأهل</a:t>
            </a:r>
            <a:endParaRPr lang="ar-SA" sz="1300" dirty="0"/>
          </a:p>
        </p:txBody>
      </p:sp>
      <p:sp>
        <p:nvSpPr>
          <p:cNvPr id="8" name="circle-151"/>
          <p:cNvSpPr/>
          <p:nvPr/>
        </p:nvSpPr>
        <p:spPr>
          <a:xfrm>
            <a:off x="8302752" y="182880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9" name="icon-15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924" y="1920972"/>
            <a:ext cx="199705" cy="199705"/>
          </a:xfrm>
          <a:prstGeom prst="rect">
            <a:avLst/>
          </a:prstGeom>
        </p:spPr>
      </p:pic>
      <p:sp>
        <p:nvSpPr>
          <p:cNvPr id="10" name="text-153"/>
          <p:cNvSpPr txBox="1"/>
          <p:nvPr/>
        </p:nvSpPr>
        <p:spPr>
          <a:xfrm>
            <a:off x="5715000" y="18288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tx1"/>
                </a:solidFill>
              </a:rPr>
              <a:t>الملف الصحي: فصيلة الدم، الحساسية، العلاج، إذن الأهل</a:t>
            </a:r>
            <a:endParaRPr lang="ar-SA" sz="1300" dirty="0"/>
          </a:p>
        </p:txBody>
      </p:sp>
      <p:sp>
        <p:nvSpPr>
          <p:cNvPr id="11" name="circle-154"/>
          <p:cNvSpPr/>
          <p:nvPr/>
        </p:nvSpPr>
        <p:spPr>
          <a:xfrm>
            <a:off x="8302752" y="235915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on-15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924" y="2451324"/>
            <a:ext cx="199705" cy="199705"/>
          </a:xfrm>
          <a:prstGeom prst="rect">
            <a:avLst/>
          </a:prstGeom>
        </p:spPr>
      </p:pic>
      <p:sp>
        <p:nvSpPr>
          <p:cNvPr id="13" name="text-156"/>
          <p:cNvSpPr txBox="1"/>
          <p:nvPr/>
        </p:nvSpPr>
        <p:spPr>
          <a:xfrm>
            <a:off x="5715000" y="23591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tx1"/>
                </a:solidFill>
              </a:rPr>
              <a:t>الحضور: النسبة، سلاسل الغياب، التبرير</a:t>
            </a:r>
            <a:endParaRPr lang="ar-SA" sz="1300" dirty="0"/>
          </a:p>
        </p:txBody>
      </p:sp>
      <p:sp>
        <p:nvSpPr>
          <p:cNvPr id="14" name="circle-157"/>
          <p:cNvSpPr/>
          <p:nvPr/>
        </p:nvSpPr>
        <p:spPr>
          <a:xfrm>
            <a:off x="8302752" y="2889504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con-15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924" y="2981676"/>
            <a:ext cx="199705" cy="199705"/>
          </a:xfrm>
          <a:prstGeom prst="rect">
            <a:avLst/>
          </a:prstGeom>
        </p:spPr>
      </p:pic>
      <p:sp>
        <p:nvSpPr>
          <p:cNvPr id="16" name="text-159"/>
          <p:cNvSpPr txBox="1"/>
          <p:nvPr/>
        </p:nvSpPr>
        <p:spPr>
          <a:xfrm>
            <a:off x="5715000" y="28895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tx1"/>
                </a:solidFill>
              </a:rPr>
              <a:t>المطالب المكتسبة والترفيعات</a:t>
            </a:r>
            <a:endParaRPr lang="ar-SA" sz="1300" dirty="0"/>
          </a:p>
        </p:txBody>
      </p:sp>
      <p:sp>
        <p:nvSpPr>
          <p:cNvPr id="17" name="circle-160"/>
          <p:cNvSpPr/>
          <p:nvPr/>
        </p:nvSpPr>
        <p:spPr>
          <a:xfrm>
            <a:off x="8302752" y="34198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icon-16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924" y="3512028"/>
            <a:ext cx="199705" cy="199705"/>
          </a:xfrm>
          <a:prstGeom prst="rect">
            <a:avLst/>
          </a:prstGeom>
        </p:spPr>
      </p:pic>
      <p:sp>
        <p:nvSpPr>
          <p:cNvPr id="19" name="text-162"/>
          <p:cNvSpPr txBox="1"/>
          <p:nvPr/>
        </p:nvSpPr>
        <p:spPr>
          <a:xfrm>
            <a:off x="5715000" y="34198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tx1"/>
                </a:solidFill>
              </a:rPr>
              <a:t>الاشتراكات الشهرية والمتأخرات</a:t>
            </a:r>
            <a:endParaRPr lang="ar-SA" sz="1300" dirty="0"/>
          </a:p>
        </p:txBody>
      </p:sp>
      <p:sp>
        <p:nvSpPr>
          <p:cNvPr id="20" name="circle-163"/>
          <p:cNvSpPr/>
          <p:nvPr/>
        </p:nvSpPr>
        <p:spPr>
          <a:xfrm>
            <a:off x="8302752" y="39502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con-16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4924" y="4042380"/>
            <a:ext cx="199705" cy="199705"/>
          </a:xfrm>
          <a:prstGeom prst="rect">
            <a:avLst/>
          </a:prstGeom>
        </p:spPr>
      </p:pic>
      <p:sp>
        <p:nvSpPr>
          <p:cNvPr id="22" name="text-165"/>
          <p:cNvSpPr txBox="1"/>
          <p:nvPr/>
        </p:nvSpPr>
        <p:spPr>
          <a:xfrm>
            <a:off x="5715000" y="39502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tx1"/>
                </a:solidFill>
              </a:rPr>
              <a:t>المسؤوليات (عريف، مساعد) وسجل المتابعة</a:t>
            </a:r>
            <a:endParaRPr lang="ar-SA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94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A85"/>
                </a:solidFill>
              </a:defRPr>
            </a:lvl1pPr>
          </a:lstStyle>
          <a:p>
            <a:pPr rtl="1"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القبول: من الانتساب إلى التكريس</a:t>
            </a:r>
            <a:endParaRPr lang="ar-SA" sz="3000" dirty="0"/>
          </a:p>
        </p:txBody>
      </p:sp>
      <p:sp>
        <p:nvSpPr>
          <p:cNvPr id="3" name="card-166"/>
          <p:cNvSpPr/>
          <p:nvPr/>
        </p:nvSpPr>
        <p:spPr>
          <a:xfrm>
            <a:off x="6800850" y="1371600"/>
            <a:ext cx="1885950" cy="2286000"/>
          </a:xfrm>
          <a:prstGeom prst="roundRect">
            <a:avLst>
              <a:gd name="adj" fmla="val 5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4" name="circle-167"/>
          <p:cNvSpPr/>
          <p:nvPr/>
        </p:nvSpPr>
        <p:spPr>
          <a:xfrm>
            <a:off x="7423785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16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7404" y="1799539"/>
            <a:ext cx="332842" cy="332842"/>
          </a:xfrm>
          <a:prstGeom prst="rect">
            <a:avLst/>
          </a:prstGeom>
        </p:spPr>
      </p:pic>
      <p:sp>
        <p:nvSpPr>
          <p:cNvPr id="6" name="text-169"/>
          <p:cNvSpPr txBox="1"/>
          <p:nvPr/>
        </p:nvSpPr>
        <p:spPr>
          <a:xfrm>
            <a:off x="693801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800" b="1" dirty="0">
                <a:solidFill>
                  <a:schemeClr val="accent1"/>
                </a:solidFill>
              </a:rPr>
              <a:t>1</a:t>
            </a:r>
            <a:endParaRPr lang="ar-SA" sz="1800" dirty="0"/>
          </a:p>
        </p:txBody>
      </p:sp>
      <p:sp>
        <p:nvSpPr>
          <p:cNvPr id="7" name="text-170"/>
          <p:cNvSpPr txBox="1"/>
          <p:nvPr/>
        </p:nvSpPr>
        <p:spPr>
          <a:xfrm>
            <a:off x="6938010" y="2423160"/>
            <a:ext cx="16116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طلب الانتساب</a:t>
            </a:r>
            <a:endParaRPr lang="ar-SA" sz="1600" dirty="0"/>
          </a:p>
        </p:txBody>
      </p:sp>
      <p:sp>
        <p:nvSpPr>
          <p:cNvPr id="8" name="text-171"/>
          <p:cNvSpPr txBox="1"/>
          <p:nvPr/>
        </p:nvSpPr>
        <p:spPr>
          <a:xfrm>
            <a:off x="6983730" y="2834640"/>
            <a:ext cx="15201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accent6"/>
                </a:solidFill>
              </a:rPr>
              <a:t>يُسجَّل العنصر بحالة «في فترة التجربة»</a:t>
            </a:r>
            <a:endParaRPr lang="ar-SA" sz="1200" dirty="0"/>
          </a:p>
        </p:txBody>
      </p:sp>
      <p:sp>
        <p:nvSpPr>
          <p:cNvPr id="9" name="arrow-172"/>
          <p:cNvSpPr/>
          <p:nvPr/>
        </p:nvSpPr>
        <p:spPr>
          <a:xfrm>
            <a:off x="6599682" y="2404872"/>
            <a:ext cx="173736" cy="219456"/>
          </a:xfrm>
          <a:prstGeom prst="lef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card-173"/>
          <p:cNvSpPr/>
          <p:nvPr/>
        </p:nvSpPr>
        <p:spPr>
          <a:xfrm>
            <a:off x="4686300" y="1371600"/>
            <a:ext cx="1885950" cy="2286000"/>
          </a:xfrm>
          <a:prstGeom prst="roundRect">
            <a:avLst>
              <a:gd name="adj" fmla="val 5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11" name="circle-174"/>
          <p:cNvSpPr/>
          <p:nvPr/>
        </p:nvSpPr>
        <p:spPr>
          <a:xfrm>
            <a:off x="5309235" y="16459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on-17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2854" y="1799539"/>
            <a:ext cx="332842" cy="332842"/>
          </a:xfrm>
          <a:prstGeom prst="rect">
            <a:avLst/>
          </a:prstGeom>
        </p:spPr>
      </p:pic>
      <p:sp>
        <p:nvSpPr>
          <p:cNvPr id="13" name="text-176"/>
          <p:cNvSpPr txBox="1"/>
          <p:nvPr/>
        </p:nvSpPr>
        <p:spPr>
          <a:xfrm>
            <a:off x="482346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800" b="1" dirty="0">
                <a:solidFill>
                  <a:schemeClr val="accent2"/>
                </a:solidFill>
              </a:rPr>
              <a:t>2</a:t>
            </a:r>
            <a:endParaRPr lang="ar-SA" sz="1800" dirty="0"/>
          </a:p>
        </p:txBody>
      </p:sp>
      <p:sp>
        <p:nvSpPr>
          <p:cNvPr id="14" name="text-177"/>
          <p:cNvSpPr txBox="1"/>
          <p:nvPr/>
        </p:nvSpPr>
        <p:spPr>
          <a:xfrm>
            <a:off x="4823460" y="2423160"/>
            <a:ext cx="16116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فترة التجربة</a:t>
            </a:r>
            <a:endParaRPr lang="ar-SA" sz="1600" dirty="0"/>
          </a:p>
        </p:txBody>
      </p:sp>
      <p:sp>
        <p:nvSpPr>
          <p:cNvPr id="15" name="text-178"/>
          <p:cNvSpPr txBox="1"/>
          <p:nvPr/>
        </p:nvSpPr>
        <p:spPr>
          <a:xfrm>
            <a:off x="4869180" y="2834640"/>
            <a:ext cx="15201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accent6"/>
                </a:solidFill>
              </a:rPr>
              <a:t>شهر أو شهران حسب الفرقة، تُحسب تلقائيًا</a:t>
            </a:r>
            <a:endParaRPr lang="ar-SA" sz="1200" dirty="0"/>
          </a:p>
        </p:txBody>
      </p:sp>
      <p:sp>
        <p:nvSpPr>
          <p:cNvPr id="16" name="arrow-179"/>
          <p:cNvSpPr/>
          <p:nvPr/>
        </p:nvSpPr>
        <p:spPr>
          <a:xfrm>
            <a:off x="4485132" y="2404872"/>
            <a:ext cx="173736" cy="219456"/>
          </a:xfrm>
          <a:prstGeom prst="lef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card-180"/>
          <p:cNvSpPr/>
          <p:nvPr/>
        </p:nvSpPr>
        <p:spPr>
          <a:xfrm>
            <a:off x="2571750" y="1371600"/>
            <a:ext cx="1885950" cy="2286000"/>
          </a:xfrm>
          <a:prstGeom prst="roundRect">
            <a:avLst>
              <a:gd name="adj" fmla="val 5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18" name="circle-181"/>
          <p:cNvSpPr/>
          <p:nvPr/>
        </p:nvSpPr>
        <p:spPr>
          <a:xfrm>
            <a:off x="3194685" y="164592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9" name="icon-18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304" y="1799539"/>
            <a:ext cx="332842" cy="332842"/>
          </a:xfrm>
          <a:prstGeom prst="rect">
            <a:avLst/>
          </a:prstGeom>
        </p:spPr>
      </p:pic>
      <p:sp>
        <p:nvSpPr>
          <p:cNvPr id="20" name="text-183"/>
          <p:cNvSpPr txBox="1"/>
          <p:nvPr/>
        </p:nvSpPr>
        <p:spPr>
          <a:xfrm>
            <a:off x="270891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800" b="1" dirty="0">
                <a:solidFill>
                  <a:schemeClr val="accent3"/>
                </a:solidFill>
              </a:rPr>
              <a:t>3</a:t>
            </a:r>
            <a:endParaRPr lang="ar-SA" sz="1800" dirty="0"/>
          </a:p>
        </p:txBody>
      </p:sp>
      <p:sp>
        <p:nvSpPr>
          <p:cNvPr id="21" name="text-184"/>
          <p:cNvSpPr txBox="1"/>
          <p:nvPr/>
        </p:nvSpPr>
        <p:spPr>
          <a:xfrm>
            <a:off x="2708910" y="2423160"/>
            <a:ext cx="16116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مطالب القبول</a:t>
            </a:r>
            <a:endParaRPr lang="ar-SA" sz="1600" dirty="0"/>
          </a:p>
        </p:txBody>
      </p:sp>
      <p:sp>
        <p:nvSpPr>
          <p:cNvPr id="22" name="text-185"/>
          <p:cNvSpPr txBox="1"/>
          <p:nvPr/>
        </p:nvSpPr>
        <p:spPr>
          <a:xfrm>
            <a:off x="2754630" y="2834640"/>
            <a:ext cx="15201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accent6"/>
                </a:solidFill>
              </a:rPr>
              <a:t>التحية، الوعد، بنود القانون، اجتماعات متتالية، الصرخات</a:t>
            </a:r>
            <a:endParaRPr lang="ar-SA" sz="1200" dirty="0"/>
          </a:p>
        </p:txBody>
      </p:sp>
      <p:sp>
        <p:nvSpPr>
          <p:cNvPr id="23" name="arrow-186"/>
          <p:cNvSpPr/>
          <p:nvPr/>
        </p:nvSpPr>
        <p:spPr>
          <a:xfrm>
            <a:off x="2370582" y="2404872"/>
            <a:ext cx="173736" cy="219456"/>
          </a:xfrm>
          <a:prstGeom prst="lef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card-187"/>
          <p:cNvSpPr/>
          <p:nvPr/>
        </p:nvSpPr>
        <p:spPr>
          <a:xfrm>
            <a:off x="457200" y="1371600"/>
            <a:ext cx="1885950" cy="2286000"/>
          </a:xfrm>
          <a:prstGeom prst="roundRect">
            <a:avLst>
              <a:gd name="adj" fmla="val 5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25" name="circle-188"/>
          <p:cNvSpPr/>
          <p:nvPr/>
        </p:nvSpPr>
        <p:spPr>
          <a:xfrm>
            <a:off x="1080135" y="164592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6" name="icon-18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754" y="1799539"/>
            <a:ext cx="332842" cy="332842"/>
          </a:xfrm>
          <a:prstGeom prst="rect">
            <a:avLst/>
          </a:prstGeom>
        </p:spPr>
      </p:pic>
      <p:sp>
        <p:nvSpPr>
          <p:cNvPr id="27" name="text-190"/>
          <p:cNvSpPr txBox="1"/>
          <p:nvPr/>
        </p:nvSpPr>
        <p:spPr>
          <a:xfrm>
            <a:off x="59436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800" b="1" dirty="0">
                <a:solidFill>
                  <a:schemeClr val="accent4"/>
                </a:solidFill>
              </a:rPr>
              <a:t>4</a:t>
            </a:r>
            <a:endParaRPr lang="ar-SA" sz="1800" dirty="0"/>
          </a:p>
        </p:txBody>
      </p:sp>
      <p:sp>
        <p:nvSpPr>
          <p:cNvPr id="28" name="text-191"/>
          <p:cNvSpPr txBox="1"/>
          <p:nvPr/>
        </p:nvSpPr>
        <p:spPr>
          <a:xfrm>
            <a:off x="594360" y="2423160"/>
            <a:ext cx="16116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التكريس</a:t>
            </a:r>
            <a:endParaRPr lang="ar-SA" sz="1600" dirty="0"/>
          </a:p>
        </p:txBody>
      </p:sp>
      <p:sp>
        <p:nvSpPr>
          <p:cNvPr id="29" name="text-192"/>
          <p:cNvSpPr txBox="1"/>
          <p:nvPr/>
        </p:nvSpPr>
        <p:spPr>
          <a:xfrm>
            <a:off x="640080" y="2834640"/>
            <a:ext cx="15201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accent6"/>
                </a:solidFill>
              </a:rPr>
              <a:t>شارة «جاهز للتكريس»، ثم تاريخ التكريس وتسليم الفولار</a:t>
            </a:r>
            <a:endParaRPr lang="ar-SA" sz="1200" dirty="0"/>
          </a:p>
        </p:txBody>
      </p:sp>
      <p:sp>
        <p:nvSpPr>
          <p:cNvPr id="30" name="card-193"/>
          <p:cNvSpPr/>
          <p:nvPr/>
        </p:nvSpPr>
        <p:spPr>
          <a:xfrm>
            <a:off x="457200" y="3886200"/>
            <a:ext cx="822960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-194"/>
          <p:cNvSpPr txBox="1"/>
          <p:nvPr/>
        </p:nvSpPr>
        <p:spPr>
          <a:xfrm>
            <a:off x="685800" y="39319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tx1"/>
                </a:solidFill>
              </a:rPr>
              <a:t>كل بند في القائمة يحفظ من صادق عليه ومتى. العنصر المرفّع داخليًا (من البراعم إلى الأشبال مثلًا) يتخطى فترة التجربة. قوائم «في التجربة» و«جاهزون للتكريس» تظهر في الصفحة الرئيسية.</a:t>
            </a:r>
            <a:endParaRPr lang="ar-SA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94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A85"/>
                </a:solidFill>
              </a:defRPr>
            </a:lvl1pPr>
          </a:lstStyle>
          <a:p>
            <a:pPr rtl="1"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95"/>
          <p:cNvSpPr txBox="1"/>
          <p:nvPr/>
        </p:nvSpPr>
        <p:spPr>
          <a:xfrm>
            <a:off x="7223760" y="7315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6000" b="1" dirty="0">
                <a:solidFill>
                  <a:schemeClr val="accent2"/>
                </a:solidFill>
              </a:rPr>
              <a:t>2</a:t>
            </a:r>
            <a:endParaRPr lang="ar-SA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الأنشطة والمتابعة</a:t>
            </a:r>
            <a:endParaRPr lang="ar-SA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457200" y="2880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bg2"/>
                </a:solidFill>
              </a:rPr>
              <a:t>تسجيل الحضور، تثبيته، متابعة الغياب، وبطاقات التحضير</a:t>
            </a:r>
            <a:endParaRPr lang="ar-SA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الأنشطة: تسجيل الحضور في دقيقة</a:t>
            </a:r>
            <a:endParaRPr lang="ar-SA" sz="3000" dirty="0"/>
          </a:p>
        </p:txBody>
      </p:sp>
      <p:sp>
        <p:nvSpPr>
          <p:cNvPr id="3" name="frame-196"/>
          <p:cNvSpPr/>
          <p:nvPr/>
        </p:nvSpPr>
        <p:spPr>
          <a:xfrm>
            <a:off x="420624" y="1197864"/>
            <a:ext cx="5010912" cy="3159252"/>
          </a:xfrm>
          <a:prstGeom prst="roundRect">
            <a:avLst>
              <a:gd name="adj" fmla="val 2894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pic>
        <p:nvPicPr>
          <p:cNvPr id="4" name="shot-19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937760" cy="3086100"/>
          </a:xfrm>
          <a:prstGeom prst="rect">
            <a:avLst/>
          </a:prstGeom>
        </p:spPr>
      </p:pic>
      <p:sp>
        <p:nvSpPr>
          <p:cNvPr id="5" name="bullets-198"/>
          <p:cNvSpPr txBox="1"/>
          <p:nvPr/>
        </p:nvSpPr>
        <p:spPr>
          <a:xfrm>
            <a:off x="5715000" y="1280160"/>
            <a:ext cx="2971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900"/>
              </a:spcAft>
              <a:buSzPct val="100000"/>
              <a:buChar char="•"/>
            </a:pPr>
            <a:r>
              <a:rPr lang="ar-SA" altLang="en-US" sz="1350" dirty="0">
                <a:solidFill>
                  <a:schemeClr val="tx1"/>
                </a:solidFill>
              </a:rPr>
              <a:t>نشاط لكل فرقة: التاريخ، المكان، القادة (معبّؤون من الفرقة)</a:t>
            </a:r>
            <a:endParaRPr lang="ar-SA" sz="1350" dirty="0"/>
          </a:p>
          <a:p>
            <a:pPr rtl="1" algn="r" marL="228600" indent="-228600">
              <a:spcAft>
                <a:spcPts val="900"/>
              </a:spcAft>
              <a:buSzPct val="100000"/>
              <a:buChar char="•"/>
            </a:pPr>
            <a:r>
              <a:rPr lang="ar-SA" altLang="en-US" sz="1350" dirty="0">
                <a:solidFill>
                  <a:schemeClr val="tx1"/>
                </a:solidFill>
              </a:rPr>
              <a:t>حاضر / غائب / معذور مع السبب (مرض، سفر، دراسة…)</a:t>
            </a:r>
            <a:endParaRPr lang="ar-SA" sz="1350" dirty="0"/>
          </a:p>
          <a:p>
            <a:pPr rtl="1" algn="r" marL="228600" indent="-228600">
              <a:spcAft>
                <a:spcPts val="900"/>
              </a:spcAft>
              <a:buSzPct val="100000"/>
              <a:buChar char="•"/>
            </a:pPr>
            <a:r>
              <a:rPr lang="ar-SA" altLang="en-US" sz="1350" dirty="0">
                <a:solidFill>
                  <a:schemeClr val="tx1"/>
                </a:solidFill>
              </a:rPr>
              <a:t>«تثبيت الحضور»: يُقفل التسجيل ويحفظ من ثبّت ومتى</a:t>
            </a:r>
            <a:endParaRPr lang="ar-SA" sz="1350" dirty="0"/>
          </a:p>
          <a:p>
            <a:pPr rtl="1" algn="r" marL="228600" indent="-228600">
              <a:spcAft>
                <a:spcPts val="900"/>
              </a:spcAft>
              <a:buSzPct val="100000"/>
              <a:buChar char="•"/>
            </a:pPr>
            <a:r>
              <a:rPr lang="ar-SA" altLang="en-US" sz="1350" dirty="0">
                <a:solidFill>
                  <a:schemeClr val="tx1"/>
                </a:solidFill>
              </a:rPr>
              <a:t>النسب والإحصاءات تُحسب من الأنشطة المثبّتة فقط</a:t>
            </a:r>
            <a:endParaRPr lang="ar-SA" sz="1350" dirty="0"/>
          </a:p>
          <a:p>
            <a:pPr rtl="1" algn="r" marL="228600" indent="-228600">
              <a:spcAft>
                <a:spcPts val="900"/>
              </a:spcAft>
              <a:buSzPct val="100000"/>
              <a:buChar char="•"/>
            </a:pPr>
            <a:r>
              <a:rPr lang="ar-SA" altLang="en-US" sz="1350" dirty="0">
                <a:solidFill>
                  <a:schemeClr val="tx1"/>
                </a:solidFill>
              </a:rPr>
              <a:t>التقييم من 1 إلى 5 حسب شبكة الفرقة</a:t>
            </a:r>
            <a:endParaRPr lang="ar-SA" sz="1350" dirty="0"/>
          </a:p>
          <a:p>
            <a:pPr rtl="1" algn="r" marL="228600" indent="-228600">
              <a:spcAft>
                <a:spcPts val="900"/>
              </a:spcAft>
              <a:buSzPct val="100000"/>
              <a:buChar char="•"/>
            </a:pPr>
            <a:r>
              <a:rPr lang="ar-SA" altLang="en-US" sz="1350" dirty="0">
                <a:solidFill>
                  <a:schemeClr val="tx1"/>
                </a:solidFill>
              </a:rPr>
              <a:t>المداخيل والمصاريف ونتيجة النشاط</a:t>
            </a:r>
            <a:endParaRPr lang="ar-SA" sz="1350" dirty="0"/>
          </a:p>
          <a:p>
            <a:pPr rtl="1" algn="r" marL="228600" indent="-228600">
              <a:spcAft>
                <a:spcPts val="900"/>
              </a:spcAft>
              <a:buSzPct val="100000"/>
              <a:buChar char="•"/>
            </a:pPr>
            <a:r>
              <a:rPr lang="ar-SA" altLang="en-US" sz="1350" dirty="0">
                <a:solidFill>
                  <a:schemeClr val="tx1"/>
                </a:solidFill>
              </a:rPr>
              <a:t>التاريخ: من أنشأ النشاط ومن عدّله</a:t>
            </a:r>
            <a:endParaRPr lang="ar-SA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94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A85"/>
                </a:solidFill>
              </a:defRPr>
            </a:lvl1pPr>
          </a:lstStyle>
          <a:p>
            <a:pPr rtl="1"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متابعة الغياب قبل الانقطاع</a:t>
            </a:r>
            <a:endParaRPr lang="ar-SA" sz="3000" dirty="0"/>
          </a:p>
        </p:txBody>
      </p:sp>
      <p:sp>
        <p:nvSpPr>
          <p:cNvPr id="3" name="card-199"/>
          <p:cNvSpPr/>
          <p:nvPr/>
        </p:nvSpPr>
        <p:spPr>
          <a:xfrm>
            <a:off x="6309360" y="1234440"/>
            <a:ext cx="2377440" cy="32918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4" name="text-200"/>
          <p:cNvSpPr txBox="1"/>
          <p:nvPr/>
        </p:nvSpPr>
        <p:spPr>
          <a:xfrm>
            <a:off x="6309360" y="14173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b="1" dirty="0">
                <a:solidFill>
                  <a:schemeClr val="accent2"/>
                </a:solidFill>
              </a:rPr>
              <a:t>3</a:t>
            </a:r>
            <a:endParaRPr lang="ar-SA" sz="8800" dirty="0"/>
          </a:p>
        </p:txBody>
      </p:sp>
      <p:sp>
        <p:nvSpPr>
          <p:cNvPr id="5" name="text-201"/>
          <p:cNvSpPr txBox="1"/>
          <p:nvPr/>
        </p:nvSpPr>
        <p:spPr>
          <a:xfrm>
            <a:off x="640080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غيابات متتالية</a:t>
            </a:r>
            <a:endParaRPr lang="ar-SA" sz="1800" dirty="0"/>
          </a:p>
        </p:txBody>
      </p:sp>
      <p:sp>
        <p:nvSpPr>
          <p:cNvPr id="6" name="text-202"/>
          <p:cNvSpPr txBox="1"/>
          <p:nvPr/>
        </p:nvSpPr>
        <p:spPr>
          <a:xfrm>
            <a:off x="6492240" y="3108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50" dirty="0">
                <a:solidFill>
                  <a:schemeClr val="bg2"/>
                </a:solidFill>
              </a:rPr>
              <a:t>تُطلق التنبيه لقادة الفرقة، وعند 6 يُبلَّغ المسؤول. العتبة قابلة للضبط.</a:t>
            </a:r>
            <a:endParaRPr lang="ar-SA" sz="1250" dirty="0"/>
          </a:p>
        </p:txBody>
      </p:sp>
      <p:sp>
        <p:nvSpPr>
          <p:cNvPr id="7" name="circle-203"/>
          <p:cNvSpPr/>
          <p:nvPr/>
        </p:nvSpPr>
        <p:spPr>
          <a:xfrm>
            <a:off x="5532120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icon-20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48" y="1389888"/>
            <a:ext cx="237744" cy="237744"/>
          </a:xfrm>
          <a:prstGeom prst="rect">
            <a:avLst/>
          </a:prstGeom>
        </p:spPr>
      </p:pic>
      <p:sp>
        <p:nvSpPr>
          <p:cNvPr id="9" name="text-205"/>
          <p:cNvSpPr txBox="1"/>
          <p:nvPr/>
        </p:nvSpPr>
        <p:spPr>
          <a:xfrm>
            <a:off x="457200" y="126187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تنبيه تلقائي</a:t>
            </a:r>
            <a:endParaRPr lang="ar-SA" sz="1600" dirty="0"/>
          </a:p>
        </p:txBody>
      </p:sp>
      <p:sp>
        <p:nvSpPr>
          <p:cNvPr id="10" name="text-206"/>
          <p:cNvSpPr txBox="1"/>
          <p:nvPr/>
        </p:nvSpPr>
        <p:spPr>
          <a:xfrm>
            <a:off x="457200" y="153619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يصل على الهاتف بعد تثبيت الحضور، مرة واحدة لكل عتبة</a:t>
            </a:r>
            <a:endParaRPr lang="ar-SA" sz="1250" dirty="0"/>
          </a:p>
        </p:txBody>
      </p:sp>
      <p:sp>
        <p:nvSpPr>
          <p:cNvPr id="11" name="circle-207"/>
          <p:cNvSpPr/>
          <p:nvPr/>
        </p:nvSpPr>
        <p:spPr>
          <a:xfrm>
            <a:off x="5532120" y="21031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-20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2212848"/>
            <a:ext cx="237744" cy="237744"/>
          </a:xfrm>
          <a:prstGeom prst="rect">
            <a:avLst/>
          </a:prstGeom>
        </p:spPr>
      </p:pic>
      <p:sp>
        <p:nvSpPr>
          <p:cNvPr id="13" name="text-209"/>
          <p:cNvSpPr txBox="1"/>
          <p:nvPr/>
        </p:nvSpPr>
        <p:spPr>
          <a:xfrm>
            <a:off x="457200" y="208483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سجل الاتصال بالأهل</a:t>
            </a:r>
            <a:endParaRPr lang="ar-SA" sz="1600" dirty="0"/>
          </a:p>
        </p:txBody>
      </p:sp>
      <p:sp>
        <p:nvSpPr>
          <p:cNvPr id="14" name="text-210"/>
          <p:cNvSpPr txBox="1"/>
          <p:nvPr/>
        </p:nvSpPr>
        <p:spPr>
          <a:xfrm>
            <a:off x="457200" y="235915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اتصال، واتساب، أو زيارة: من اتصل، متى، السبب، وموعد المتابعة</a:t>
            </a:r>
            <a:endParaRPr lang="ar-SA" sz="1250" dirty="0"/>
          </a:p>
        </p:txBody>
      </p:sp>
      <p:sp>
        <p:nvSpPr>
          <p:cNvPr id="15" name="circle-211"/>
          <p:cNvSpPr/>
          <p:nvPr/>
        </p:nvSpPr>
        <p:spPr>
          <a:xfrm>
            <a:off x="5532120" y="292608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6" name="icon-21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3035808"/>
            <a:ext cx="237744" cy="237744"/>
          </a:xfrm>
          <a:prstGeom prst="rect">
            <a:avLst/>
          </a:prstGeom>
        </p:spPr>
      </p:pic>
      <p:sp>
        <p:nvSpPr>
          <p:cNvPr id="17" name="text-213"/>
          <p:cNvSpPr txBox="1"/>
          <p:nvPr/>
        </p:nvSpPr>
        <p:spPr>
          <a:xfrm>
            <a:off x="457200" y="290779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رسالة واتساب جاهزة</a:t>
            </a:r>
            <a:endParaRPr lang="ar-SA" sz="1600" dirty="0"/>
          </a:p>
        </p:txBody>
      </p:sp>
      <p:sp>
        <p:nvSpPr>
          <p:cNvPr id="18" name="text-214"/>
          <p:cNvSpPr txBox="1"/>
          <p:nvPr/>
        </p:nvSpPr>
        <p:spPr>
          <a:xfrm>
            <a:off x="457200" y="318211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زر يفتح المحادثة مع الأهل برسالة معبّأة مسبقًا</a:t>
            </a:r>
            <a:endParaRPr lang="ar-SA" sz="1250" dirty="0"/>
          </a:p>
        </p:txBody>
      </p:sp>
      <p:sp>
        <p:nvSpPr>
          <p:cNvPr id="19" name="circle-215"/>
          <p:cNvSpPr/>
          <p:nvPr/>
        </p:nvSpPr>
        <p:spPr>
          <a:xfrm>
            <a:off x="5532120" y="37490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con-21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848" y="3858768"/>
            <a:ext cx="237744" cy="237744"/>
          </a:xfrm>
          <a:prstGeom prst="rect">
            <a:avLst/>
          </a:prstGeom>
        </p:spPr>
      </p:pic>
      <p:sp>
        <p:nvSpPr>
          <p:cNvPr id="21" name="text-217"/>
          <p:cNvSpPr txBox="1"/>
          <p:nvPr/>
        </p:nvSpPr>
        <p:spPr>
          <a:xfrm>
            <a:off x="457200" y="373075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قائمة «للمتابعة»</a:t>
            </a:r>
            <a:endParaRPr lang="ar-SA" sz="1600" dirty="0"/>
          </a:p>
        </p:txBody>
      </p:sp>
      <p:sp>
        <p:nvSpPr>
          <p:cNvPr id="22" name="text-218"/>
          <p:cNvSpPr txBox="1"/>
          <p:nvPr/>
        </p:nvSpPr>
        <p:spPr>
          <a:xfrm>
            <a:off x="457200" y="400507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في الرئيسية وفي الفرقة: «اتصل به فلان قبل 3 أيام»، فلا يتصل قائدان بالعائلة نفسها</a:t>
            </a:r>
            <a:endParaRPr lang="ar-SA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94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A85"/>
                </a:solidFill>
              </a:defRPr>
            </a:lvl1pPr>
          </a:lstStyle>
          <a:p>
            <a:pPr rtl="1"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بطاقات التحضير: النشاط يُحضَّر قبل موعده</a:t>
            </a:r>
            <a:endParaRPr lang="ar-SA" sz="3000" dirty="0"/>
          </a:p>
        </p:txBody>
      </p:sp>
      <p:sp>
        <p:nvSpPr>
          <p:cNvPr id="3" name="frame-219"/>
          <p:cNvSpPr/>
          <p:nvPr/>
        </p:nvSpPr>
        <p:spPr>
          <a:xfrm>
            <a:off x="420624" y="1197864"/>
            <a:ext cx="5010912" cy="3159252"/>
          </a:xfrm>
          <a:prstGeom prst="roundRect">
            <a:avLst>
              <a:gd name="adj" fmla="val 2894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pic>
        <p:nvPicPr>
          <p:cNvPr id="4" name="shot-22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937760" cy="3086100"/>
          </a:xfrm>
          <a:prstGeom prst="rect">
            <a:avLst/>
          </a:prstGeom>
        </p:spPr>
      </p:pic>
      <p:sp>
        <p:nvSpPr>
          <p:cNvPr id="5" name="circle-221"/>
          <p:cNvSpPr/>
          <p:nvPr/>
        </p:nvSpPr>
        <p:spPr>
          <a:xfrm>
            <a:off x="822960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22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1389888"/>
            <a:ext cx="237744" cy="237744"/>
          </a:xfrm>
          <a:prstGeom prst="rect">
            <a:avLst/>
          </a:prstGeom>
        </p:spPr>
      </p:pic>
      <p:sp>
        <p:nvSpPr>
          <p:cNvPr id="7" name="text-223"/>
          <p:cNvSpPr txBox="1"/>
          <p:nvPr/>
        </p:nvSpPr>
        <p:spPr>
          <a:xfrm>
            <a:off x="5715000" y="12618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بطاقة لكل نشاط</a:t>
            </a:r>
            <a:endParaRPr lang="ar-SA" sz="1600" dirty="0"/>
          </a:p>
        </p:txBody>
      </p:sp>
      <p:sp>
        <p:nvSpPr>
          <p:cNvPr id="8" name="text-224"/>
          <p:cNvSpPr txBox="1"/>
          <p:nvPr/>
        </p:nvSpPr>
        <p:spPr>
          <a:xfrm>
            <a:off x="5715000" y="15361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الأهداف، المراحل والتوقيت، المواد، المسؤول عن كل مرحلة</a:t>
            </a:r>
            <a:endParaRPr lang="ar-SA" sz="1250" dirty="0"/>
          </a:p>
        </p:txBody>
      </p:sp>
      <p:sp>
        <p:nvSpPr>
          <p:cNvPr id="9" name="circle-225"/>
          <p:cNvSpPr/>
          <p:nvPr/>
        </p:nvSpPr>
        <p:spPr>
          <a:xfrm>
            <a:off x="8229600" y="21031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con-22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2212848"/>
            <a:ext cx="237744" cy="237744"/>
          </a:xfrm>
          <a:prstGeom prst="rect">
            <a:avLst/>
          </a:prstGeom>
        </p:spPr>
      </p:pic>
      <p:sp>
        <p:nvSpPr>
          <p:cNvPr id="11" name="text-227"/>
          <p:cNvSpPr txBox="1"/>
          <p:nvPr/>
        </p:nvSpPr>
        <p:spPr>
          <a:xfrm>
            <a:off x="5715000" y="20848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مرتبطة بالمطالب</a:t>
            </a:r>
            <a:endParaRPr lang="ar-SA" sz="1600" dirty="0"/>
          </a:p>
        </p:txBody>
      </p:sp>
      <p:sp>
        <p:nvSpPr>
          <p:cNvPr id="12" name="text-228"/>
          <p:cNvSpPr txBox="1"/>
          <p:nvPr/>
        </p:nvSpPr>
        <p:spPr>
          <a:xfrm>
            <a:off x="5715000" y="23591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أي مطالب يغطيها النشاط، فتظهر تغطية المجالات</a:t>
            </a:r>
            <a:endParaRPr lang="ar-SA" sz="1250" dirty="0"/>
          </a:p>
        </p:txBody>
      </p:sp>
      <p:sp>
        <p:nvSpPr>
          <p:cNvPr id="13" name="circle-229"/>
          <p:cNvSpPr/>
          <p:nvPr/>
        </p:nvSpPr>
        <p:spPr>
          <a:xfrm>
            <a:off x="8229600" y="292608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icon-23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3035808"/>
            <a:ext cx="237744" cy="237744"/>
          </a:xfrm>
          <a:prstGeom prst="rect">
            <a:avLst/>
          </a:prstGeom>
        </p:spPr>
      </p:pic>
      <p:sp>
        <p:nvSpPr>
          <p:cNvPr id="15" name="text-231"/>
          <p:cNvSpPr txBox="1"/>
          <p:nvPr/>
        </p:nvSpPr>
        <p:spPr>
          <a:xfrm>
            <a:off x="5715000" y="29077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تنبيه عند النقص</a:t>
            </a:r>
            <a:endParaRPr lang="ar-SA" sz="1600" dirty="0"/>
          </a:p>
        </p:txBody>
      </p:sp>
      <p:sp>
        <p:nvSpPr>
          <p:cNvPr id="16" name="text-232"/>
          <p:cNvSpPr txBox="1"/>
          <p:nvPr/>
        </p:nvSpPr>
        <p:spPr>
          <a:xfrm>
            <a:off x="5715000" y="31821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نشاط قريب بلا بطاقة يظهر في «بحاجة إلى إجراء»</a:t>
            </a:r>
            <a:endParaRPr lang="ar-SA" sz="1250" dirty="0"/>
          </a:p>
        </p:txBody>
      </p:sp>
      <p:sp>
        <p:nvSpPr>
          <p:cNvPr id="17" name="circle-233"/>
          <p:cNvSpPr/>
          <p:nvPr/>
        </p:nvSpPr>
        <p:spPr>
          <a:xfrm>
            <a:off x="8229600" y="3749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con-23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8" y="3858768"/>
            <a:ext cx="237744" cy="237744"/>
          </a:xfrm>
          <a:prstGeom prst="rect">
            <a:avLst/>
          </a:prstGeom>
        </p:spPr>
      </p:pic>
      <p:sp>
        <p:nvSpPr>
          <p:cNvPr id="19" name="text-235"/>
          <p:cNvSpPr txBox="1"/>
          <p:nvPr/>
        </p:nvSpPr>
        <p:spPr>
          <a:xfrm>
            <a:off x="5715000" y="37307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PDF للطباعة</a:t>
            </a:r>
            <a:endParaRPr lang="ar-SA" sz="1600" dirty="0"/>
          </a:p>
        </p:txBody>
      </p:sp>
      <p:sp>
        <p:nvSpPr>
          <p:cNvPr id="20" name="text-236"/>
          <p:cNvSpPr txBox="1"/>
          <p:nvPr/>
        </p:nvSpPr>
        <p:spPr>
          <a:xfrm>
            <a:off x="5715000" y="40050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البطاقة تُطبع للقائد الذي يقود النشاط في الميدان</a:t>
            </a:r>
            <a:endParaRPr lang="ar-SA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94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A85"/>
                </a:solidFill>
              </a:defRPr>
            </a:lvl1pPr>
          </a:lstStyle>
          <a:p>
            <a:pPr rtl="1"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37"/>
          <p:cNvSpPr txBox="1"/>
          <p:nvPr/>
        </p:nvSpPr>
        <p:spPr>
          <a:xfrm>
            <a:off x="7223760" y="7315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6000" b="1" dirty="0">
                <a:solidFill>
                  <a:schemeClr val="accent2"/>
                </a:solidFill>
              </a:rPr>
              <a:t>3</a:t>
            </a:r>
            <a:endParaRPr lang="ar-SA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المسار الكشفي</a:t>
            </a:r>
            <a:endParaRPr lang="ar-SA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457200" y="2880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bg2"/>
                </a:solidFill>
              </a:rPr>
              <a:t>كتالوج المطالب، المجالات، والترفيع في وقته</a:t>
            </a:r>
            <a:endParaRPr lang="ar-SA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المطالب: كتالوج لكل فرقة</a:t>
            </a:r>
            <a:endParaRPr lang="ar-SA" sz="3000" dirty="0"/>
          </a:p>
        </p:txBody>
      </p:sp>
      <p:sp>
        <p:nvSpPr>
          <p:cNvPr id="3" name="card-238"/>
          <p:cNvSpPr/>
          <p:nvPr/>
        </p:nvSpPr>
        <p:spPr>
          <a:xfrm>
            <a:off x="457200" y="1234440"/>
            <a:ext cx="42062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4" name="text-239"/>
          <p:cNvSpPr txBox="1"/>
          <p:nvPr/>
        </p:nvSpPr>
        <p:spPr>
          <a:xfrm>
            <a:off x="685800" y="1417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tx2"/>
                </a:solidFill>
              </a:rPr>
              <a:t>تغطية المجالات: الأشبال</a:t>
            </a:r>
            <a:endParaRPr lang="ar-SA" sz="1500" dirty="0"/>
          </a:p>
        </p:txBody>
      </p:sp>
      <p:sp>
        <p:nvSpPr>
          <p:cNvPr id="5" name="text-240"/>
          <p:cNvSpPr txBox="1"/>
          <p:nvPr/>
        </p:nvSpPr>
        <p:spPr>
          <a:xfrm>
            <a:off x="306324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tx1"/>
                </a:solidFill>
              </a:rPr>
              <a:t>الحياة الكشفية</a:t>
            </a:r>
            <a:endParaRPr lang="ar-SA" sz="1200" dirty="0"/>
          </a:p>
        </p:txBody>
      </p:sp>
      <p:sp>
        <p:nvSpPr>
          <p:cNvPr id="6" name="bar-241"/>
          <p:cNvSpPr/>
          <p:nvPr/>
        </p:nvSpPr>
        <p:spPr>
          <a:xfrm>
            <a:off x="685800" y="1984248"/>
            <a:ext cx="2103120" cy="146304"/>
          </a:xfrm>
          <a:prstGeom prst="roundRect">
            <a:avLst>
              <a:gd name="adj" fmla="val 50000"/>
            </a:avLst>
          </a:prstGeom>
          <a:solidFill>
            <a:srgbClr val="D3E1E4"/>
          </a:solidFill>
          <a:ln w="12700">
            <a:solidFill>
              <a:srgbClr val="D3E1E4"/>
            </a:solidFill>
            <a:prstDash val="solid"/>
          </a:ln>
        </p:spPr>
      </p:sp>
      <p:sp>
        <p:nvSpPr>
          <p:cNvPr id="7" name="barfill-242"/>
          <p:cNvSpPr/>
          <p:nvPr/>
        </p:nvSpPr>
        <p:spPr>
          <a:xfrm>
            <a:off x="1001268" y="1984248"/>
            <a:ext cx="1787652" cy="14630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-243"/>
          <p:cNvSpPr txBox="1"/>
          <p:nvPr/>
        </p:nvSpPr>
        <p:spPr>
          <a:xfrm>
            <a:off x="3063240" y="23408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tx1"/>
                </a:solidFill>
              </a:rPr>
              <a:t>الروحانية</a:t>
            </a:r>
            <a:endParaRPr lang="ar-SA" sz="1200" dirty="0"/>
          </a:p>
        </p:txBody>
      </p:sp>
      <p:sp>
        <p:nvSpPr>
          <p:cNvPr id="9" name="bar-244"/>
          <p:cNvSpPr/>
          <p:nvPr/>
        </p:nvSpPr>
        <p:spPr>
          <a:xfrm>
            <a:off x="685800" y="2404872"/>
            <a:ext cx="2103120" cy="146304"/>
          </a:xfrm>
          <a:prstGeom prst="roundRect">
            <a:avLst>
              <a:gd name="adj" fmla="val 50000"/>
            </a:avLst>
          </a:prstGeom>
          <a:solidFill>
            <a:srgbClr val="D3E1E4"/>
          </a:solidFill>
          <a:ln w="12700">
            <a:solidFill>
              <a:srgbClr val="D3E1E4"/>
            </a:solidFill>
            <a:prstDash val="solid"/>
          </a:ln>
        </p:spPr>
      </p:sp>
      <p:sp>
        <p:nvSpPr>
          <p:cNvPr id="10" name="barfill-245"/>
          <p:cNvSpPr/>
          <p:nvPr/>
        </p:nvSpPr>
        <p:spPr>
          <a:xfrm>
            <a:off x="1527048" y="2404872"/>
            <a:ext cx="1261872" cy="14630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-246"/>
          <p:cNvSpPr txBox="1"/>
          <p:nvPr/>
        </p:nvSpPr>
        <p:spPr>
          <a:xfrm>
            <a:off x="3063240" y="2761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tx1"/>
                </a:solidFill>
              </a:rPr>
              <a:t>الصحة والرياضة</a:t>
            </a:r>
            <a:endParaRPr lang="ar-SA" sz="1200" dirty="0"/>
          </a:p>
        </p:txBody>
      </p:sp>
      <p:sp>
        <p:nvSpPr>
          <p:cNvPr id="12" name="bar-247"/>
          <p:cNvSpPr/>
          <p:nvPr/>
        </p:nvSpPr>
        <p:spPr>
          <a:xfrm>
            <a:off x="685800" y="2825496"/>
            <a:ext cx="2103120" cy="146304"/>
          </a:xfrm>
          <a:prstGeom prst="roundRect">
            <a:avLst>
              <a:gd name="adj" fmla="val 50000"/>
            </a:avLst>
          </a:prstGeom>
          <a:solidFill>
            <a:srgbClr val="D3E1E4"/>
          </a:solidFill>
          <a:ln w="12700">
            <a:solidFill>
              <a:srgbClr val="D3E1E4"/>
            </a:solidFill>
            <a:prstDash val="solid"/>
          </a:ln>
        </p:spPr>
      </p:sp>
      <p:sp>
        <p:nvSpPr>
          <p:cNvPr id="13" name="barfill-248"/>
          <p:cNvSpPr/>
          <p:nvPr/>
        </p:nvSpPr>
        <p:spPr>
          <a:xfrm>
            <a:off x="1316736" y="2825496"/>
            <a:ext cx="1472184" cy="14630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-249"/>
          <p:cNvSpPr txBox="1"/>
          <p:nvPr/>
        </p:nvSpPr>
        <p:spPr>
          <a:xfrm>
            <a:off x="3063240" y="3182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tx1"/>
                </a:solidFill>
              </a:rPr>
              <a:t>الخدمة والمجتمع</a:t>
            </a:r>
            <a:endParaRPr lang="ar-SA" sz="1200" dirty="0"/>
          </a:p>
        </p:txBody>
      </p:sp>
      <p:sp>
        <p:nvSpPr>
          <p:cNvPr id="15" name="bar-250"/>
          <p:cNvSpPr/>
          <p:nvPr/>
        </p:nvSpPr>
        <p:spPr>
          <a:xfrm>
            <a:off x="685800" y="3246120"/>
            <a:ext cx="2103120" cy="146304"/>
          </a:xfrm>
          <a:prstGeom prst="roundRect">
            <a:avLst>
              <a:gd name="adj" fmla="val 50000"/>
            </a:avLst>
          </a:prstGeom>
          <a:solidFill>
            <a:srgbClr val="D3E1E4"/>
          </a:solidFill>
          <a:ln w="12700">
            <a:solidFill>
              <a:srgbClr val="D3E1E4"/>
            </a:solidFill>
            <a:prstDash val="solid"/>
          </a:ln>
        </p:spPr>
      </p:sp>
      <p:sp>
        <p:nvSpPr>
          <p:cNvPr id="16" name="barfill-251"/>
          <p:cNvSpPr/>
          <p:nvPr/>
        </p:nvSpPr>
        <p:spPr>
          <a:xfrm>
            <a:off x="1842516" y="3246120"/>
            <a:ext cx="946404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-252"/>
          <p:cNvSpPr txBox="1"/>
          <p:nvPr/>
        </p:nvSpPr>
        <p:spPr>
          <a:xfrm>
            <a:off x="3063240" y="36027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tx1"/>
                </a:solidFill>
              </a:rPr>
              <a:t>المهارات اليدوية</a:t>
            </a:r>
            <a:endParaRPr lang="ar-SA" sz="1200" dirty="0"/>
          </a:p>
        </p:txBody>
      </p:sp>
      <p:sp>
        <p:nvSpPr>
          <p:cNvPr id="18" name="bar-253"/>
          <p:cNvSpPr/>
          <p:nvPr/>
        </p:nvSpPr>
        <p:spPr>
          <a:xfrm>
            <a:off x="685800" y="3666744"/>
            <a:ext cx="2103120" cy="146304"/>
          </a:xfrm>
          <a:prstGeom prst="roundRect">
            <a:avLst>
              <a:gd name="adj" fmla="val 50000"/>
            </a:avLst>
          </a:prstGeom>
          <a:solidFill>
            <a:srgbClr val="D3E1E4"/>
          </a:solidFill>
          <a:ln w="12700">
            <a:solidFill>
              <a:srgbClr val="D3E1E4"/>
            </a:solidFill>
            <a:prstDash val="solid"/>
          </a:ln>
        </p:spPr>
      </p:sp>
      <p:sp>
        <p:nvSpPr>
          <p:cNvPr id="19" name="barfill-254"/>
          <p:cNvSpPr/>
          <p:nvPr/>
        </p:nvSpPr>
        <p:spPr>
          <a:xfrm>
            <a:off x="1632204" y="3666744"/>
            <a:ext cx="1156716" cy="14630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-255"/>
          <p:cNvSpPr txBox="1"/>
          <p:nvPr/>
        </p:nvSpPr>
        <p:spPr>
          <a:xfrm>
            <a:off x="306324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tx1"/>
                </a:solidFill>
              </a:rPr>
              <a:t>الطبيعة</a:t>
            </a:r>
            <a:endParaRPr lang="ar-SA" sz="1200" dirty="0"/>
          </a:p>
        </p:txBody>
      </p:sp>
      <p:sp>
        <p:nvSpPr>
          <p:cNvPr id="21" name="bar-256"/>
          <p:cNvSpPr/>
          <p:nvPr/>
        </p:nvSpPr>
        <p:spPr>
          <a:xfrm>
            <a:off x="685800" y="4087368"/>
            <a:ext cx="2103120" cy="146304"/>
          </a:xfrm>
          <a:prstGeom prst="roundRect">
            <a:avLst>
              <a:gd name="adj" fmla="val 50000"/>
            </a:avLst>
          </a:prstGeom>
          <a:solidFill>
            <a:srgbClr val="D3E1E4"/>
          </a:solidFill>
          <a:ln w="12700">
            <a:solidFill>
              <a:srgbClr val="D3E1E4"/>
            </a:solidFill>
            <a:prstDash val="solid"/>
          </a:ln>
        </p:spPr>
      </p:sp>
      <p:sp>
        <p:nvSpPr>
          <p:cNvPr id="22" name="barfill-257"/>
          <p:cNvSpPr/>
          <p:nvPr/>
        </p:nvSpPr>
        <p:spPr>
          <a:xfrm>
            <a:off x="2157984" y="4087368"/>
            <a:ext cx="630936" cy="14630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-258"/>
          <p:cNvSpPr txBox="1"/>
          <p:nvPr/>
        </p:nvSpPr>
        <p:spPr>
          <a:xfrm>
            <a:off x="685800" y="4160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950" dirty="0">
                <a:solidFill>
                  <a:schemeClr val="accent6"/>
                </a:solidFill>
              </a:rPr>
              <a:t>مثال توضيحي</a:t>
            </a:r>
            <a:endParaRPr lang="ar-SA" sz="950" dirty="0"/>
          </a:p>
        </p:txBody>
      </p:sp>
      <p:sp>
        <p:nvSpPr>
          <p:cNvPr id="24" name="circle-259"/>
          <p:cNvSpPr/>
          <p:nvPr/>
        </p:nvSpPr>
        <p:spPr>
          <a:xfrm>
            <a:off x="822960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con-26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28" y="1389888"/>
            <a:ext cx="237744" cy="237744"/>
          </a:xfrm>
          <a:prstGeom prst="rect">
            <a:avLst/>
          </a:prstGeom>
        </p:spPr>
      </p:pic>
      <p:sp>
        <p:nvSpPr>
          <p:cNvPr id="26" name="text-261"/>
          <p:cNvSpPr txBox="1"/>
          <p:nvPr/>
        </p:nvSpPr>
        <p:spPr>
          <a:xfrm>
            <a:off x="5029200" y="12618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بنود باسم ومعنى</a:t>
            </a:r>
            <a:endParaRPr lang="ar-SA" sz="1600" dirty="0"/>
          </a:p>
        </p:txBody>
      </p:sp>
      <p:sp>
        <p:nvSpPr>
          <p:cNvPr id="27" name="text-262"/>
          <p:cNvSpPr txBox="1"/>
          <p:nvPr/>
        </p:nvSpPr>
        <p:spPr>
          <a:xfrm>
            <a:off x="5029200" y="15361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لا «مطلب 37» بعد اليوم: لكل بند اسمه ومجاله ونوعه (قبول أو تقدّم)</a:t>
            </a:r>
            <a:endParaRPr lang="ar-SA" sz="1250" dirty="0"/>
          </a:p>
        </p:txBody>
      </p:sp>
      <p:sp>
        <p:nvSpPr>
          <p:cNvPr id="28" name="circle-263"/>
          <p:cNvSpPr/>
          <p:nvPr/>
        </p:nvSpPr>
        <p:spPr>
          <a:xfrm>
            <a:off x="8229600" y="21031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icon-26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2212848"/>
            <a:ext cx="237744" cy="237744"/>
          </a:xfrm>
          <a:prstGeom prst="rect">
            <a:avLst/>
          </a:prstGeom>
        </p:spPr>
      </p:pic>
      <p:sp>
        <p:nvSpPr>
          <p:cNvPr id="30" name="text-265"/>
          <p:cNvSpPr txBox="1"/>
          <p:nvPr/>
        </p:nvSpPr>
        <p:spPr>
          <a:xfrm>
            <a:off x="5029200" y="2084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المجالات العشرة</a:t>
            </a:r>
            <a:endParaRPr lang="ar-SA" sz="1600" dirty="0"/>
          </a:p>
        </p:txBody>
      </p:sp>
      <p:sp>
        <p:nvSpPr>
          <p:cNvPr id="31" name="text-266"/>
          <p:cNvSpPr txBox="1"/>
          <p:nvPr/>
        </p:nvSpPr>
        <p:spPr>
          <a:xfrm>
            <a:off x="5029200" y="23591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كل مطلب ينتمي إلى مجال، فنرى تغطية كل مجال لكل عنصر ولكل فرقة</a:t>
            </a:r>
            <a:endParaRPr lang="ar-SA" sz="1250" dirty="0"/>
          </a:p>
        </p:txBody>
      </p:sp>
      <p:sp>
        <p:nvSpPr>
          <p:cNvPr id="32" name="circle-267"/>
          <p:cNvSpPr/>
          <p:nvPr/>
        </p:nvSpPr>
        <p:spPr>
          <a:xfrm>
            <a:off x="8229600" y="292608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3" name="icon-26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3035808"/>
            <a:ext cx="237744" cy="237744"/>
          </a:xfrm>
          <a:prstGeom prst="rect">
            <a:avLst/>
          </a:prstGeom>
        </p:spPr>
      </p:pic>
      <p:sp>
        <p:nvSpPr>
          <p:cNvPr id="34" name="text-269"/>
          <p:cNvSpPr txBox="1"/>
          <p:nvPr/>
        </p:nvSpPr>
        <p:spPr>
          <a:xfrm>
            <a:off x="5029200" y="29077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التسجيل من مكانين</a:t>
            </a:r>
            <a:endParaRPr lang="ar-SA" sz="1600" dirty="0"/>
          </a:p>
        </p:txBody>
      </p:sp>
      <p:sp>
        <p:nvSpPr>
          <p:cNvPr id="35" name="text-270"/>
          <p:cNvSpPr txBox="1"/>
          <p:nvPr/>
        </p:nvSpPr>
        <p:spPr>
          <a:xfrm>
            <a:off x="5029200" y="31821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من النشاط لعدة عناصر دفعة واحدة، أو من ملف العنصر</a:t>
            </a:r>
            <a:endParaRPr lang="ar-SA" sz="1250" dirty="0"/>
          </a:p>
        </p:txBody>
      </p:sp>
      <p:sp>
        <p:nvSpPr>
          <p:cNvPr id="36" name="circle-271"/>
          <p:cNvSpPr/>
          <p:nvPr/>
        </p:nvSpPr>
        <p:spPr>
          <a:xfrm>
            <a:off x="8229600" y="3749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7" name="icon-27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3858768"/>
            <a:ext cx="237744" cy="237744"/>
          </a:xfrm>
          <a:prstGeom prst="rect">
            <a:avLst/>
          </a:prstGeom>
        </p:spPr>
      </p:pic>
      <p:sp>
        <p:nvSpPr>
          <p:cNvPr id="38" name="text-273"/>
          <p:cNvSpPr txBox="1"/>
          <p:nvPr/>
        </p:nvSpPr>
        <p:spPr>
          <a:xfrm>
            <a:off x="5029200" y="37307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قابل للضبط</a:t>
            </a:r>
            <a:endParaRPr lang="ar-SA" sz="1600" dirty="0"/>
          </a:p>
        </p:txBody>
      </p:sp>
      <p:sp>
        <p:nvSpPr>
          <p:cNvPr id="39" name="text-274"/>
          <p:cNvSpPr txBox="1"/>
          <p:nvPr/>
        </p:nvSpPr>
        <p:spPr>
          <a:xfrm>
            <a:off x="5029200" y="40050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كل فرقة تحرّر كتالوجها وعتبة الترفيع من الإعدادات</a:t>
            </a:r>
            <a:endParaRPr lang="ar-SA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94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A85"/>
                </a:solidFill>
              </a:defRPr>
            </a:lvl1pPr>
          </a:lstStyle>
          <a:p>
            <a:pPr rtl="1"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الترفيع: في الوقت المناسب</a:t>
            </a:r>
            <a:endParaRPr lang="ar-SA" sz="3000" dirty="0"/>
          </a:p>
        </p:txBody>
      </p:sp>
      <p:sp>
        <p:nvSpPr>
          <p:cNvPr id="3" name="frame-275"/>
          <p:cNvSpPr/>
          <p:nvPr/>
        </p:nvSpPr>
        <p:spPr>
          <a:xfrm>
            <a:off x="420624" y="1197864"/>
            <a:ext cx="5010912" cy="3159252"/>
          </a:xfrm>
          <a:prstGeom prst="roundRect">
            <a:avLst>
              <a:gd name="adj" fmla="val 2894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pic>
        <p:nvPicPr>
          <p:cNvPr id="4" name="shot-27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937760" cy="3086100"/>
          </a:xfrm>
          <a:prstGeom prst="rect">
            <a:avLst/>
          </a:prstGeom>
        </p:spPr>
      </p:pic>
      <p:sp>
        <p:nvSpPr>
          <p:cNvPr id="5" name="circle-277"/>
          <p:cNvSpPr/>
          <p:nvPr/>
        </p:nvSpPr>
        <p:spPr>
          <a:xfrm>
            <a:off x="8229600" y="12801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con-27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1389888"/>
            <a:ext cx="237744" cy="237744"/>
          </a:xfrm>
          <a:prstGeom prst="rect">
            <a:avLst/>
          </a:prstGeom>
        </p:spPr>
      </p:pic>
      <p:sp>
        <p:nvSpPr>
          <p:cNvPr id="7" name="text-279"/>
          <p:cNvSpPr txBox="1"/>
          <p:nvPr/>
        </p:nvSpPr>
        <p:spPr>
          <a:xfrm>
            <a:off x="5715000" y="12618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مقترحات حسب العمر</a:t>
            </a:r>
            <a:endParaRPr lang="ar-SA" sz="1600" dirty="0"/>
          </a:p>
        </p:txBody>
      </p:sp>
      <p:sp>
        <p:nvSpPr>
          <p:cNvPr id="8" name="text-280"/>
          <p:cNvSpPr txBox="1"/>
          <p:nvPr/>
        </p:nvSpPr>
        <p:spPr>
          <a:xfrm>
            <a:off x="5715000" y="15361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البرنامج يقترح من بلغ سنّ الفرقة التالية، ويُظهر من لا تاريخ ميلاد له</a:t>
            </a:r>
            <a:endParaRPr lang="ar-SA" sz="1250" dirty="0"/>
          </a:p>
        </p:txBody>
      </p:sp>
      <p:sp>
        <p:nvSpPr>
          <p:cNvPr id="9" name="circle-281"/>
          <p:cNvSpPr/>
          <p:nvPr/>
        </p:nvSpPr>
        <p:spPr>
          <a:xfrm>
            <a:off x="8229600" y="21031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-28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2212848"/>
            <a:ext cx="237744" cy="237744"/>
          </a:xfrm>
          <a:prstGeom prst="rect">
            <a:avLst/>
          </a:prstGeom>
        </p:spPr>
      </p:pic>
      <p:sp>
        <p:nvSpPr>
          <p:cNvPr id="11" name="text-283"/>
          <p:cNvSpPr txBox="1"/>
          <p:nvPr/>
        </p:nvSpPr>
        <p:spPr>
          <a:xfrm>
            <a:off x="5715000" y="20848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عتبة المطالب</a:t>
            </a:r>
            <a:endParaRPr lang="ar-SA" sz="1600" dirty="0"/>
          </a:p>
        </p:txBody>
      </p:sp>
      <p:sp>
        <p:nvSpPr>
          <p:cNvPr id="12" name="text-284"/>
          <p:cNvSpPr txBox="1"/>
          <p:nvPr/>
        </p:nvSpPr>
        <p:spPr>
          <a:xfrm>
            <a:off x="5715000" y="23591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جاهز للترفيع عند 60٪ أو 70٪ من المطالب حسب الفرقة</a:t>
            </a:r>
            <a:endParaRPr lang="ar-SA" sz="1250" dirty="0"/>
          </a:p>
        </p:txBody>
      </p:sp>
      <p:sp>
        <p:nvSpPr>
          <p:cNvPr id="13" name="circle-285"/>
          <p:cNvSpPr/>
          <p:nvPr/>
        </p:nvSpPr>
        <p:spPr>
          <a:xfrm>
            <a:off x="8229600" y="29260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con-28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3035808"/>
            <a:ext cx="237744" cy="237744"/>
          </a:xfrm>
          <a:prstGeom prst="rect">
            <a:avLst/>
          </a:prstGeom>
        </p:spPr>
      </p:pic>
      <p:sp>
        <p:nvSpPr>
          <p:cNvPr id="15" name="text-287"/>
          <p:cNvSpPr txBox="1"/>
          <p:nvPr/>
        </p:nvSpPr>
        <p:spPr>
          <a:xfrm>
            <a:off x="5715000" y="29077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الطلائع حسب العمر</a:t>
            </a:r>
            <a:endParaRPr lang="ar-SA" sz="1600" dirty="0"/>
          </a:p>
        </p:txBody>
      </p:sp>
      <p:sp>
        <p:nvSpPr>
          <p:cNvPr id="16" name="text-288"/>
          <p:cNvSpPr txBox="1"/>
          <p:nvPr/>
        </p:nvSpPr>
        <p:spPr>
          <a:xfrm>
            <a:off x="5715000" y="31821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زر واحد يعيد توزيع العناصر على الطلائع المناسبة</a:t>
            </a:r>
            <a:endParaRPr lang="ar-SA" sz="1250" dirty="0"/>
          </a:p>
        </p:txBody>
      </p:sp>
      <p:sp>
        <p:nvSpPr>
          <p:cNvPr id="17" name="circle-289"/>
          <p:cNvSpPr/>
          <p:nvPr/>
        </p:nvSpPr>
        <p:spPr>
          <a:xfrm>
            <a:off x="8229600" y="374904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icon-29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8" y="3858768"/>
            <a:ext cx="237744" cy="237744"/>
          </a:xfrm>
          <a:prstGeom prst="rect">
            <a:avLst/>
          </a:prstGeom>
        </p:spPr>
      </p:pic>
      <p:sp>
        <p:nvSpPr>
          <p:cNvPr id="19" name="text-291"/>
          <p:cNvSpPr txBox="1"/>
          <p:nvPr/>
        </p:nvSpPr>
        <p:spPr>
          <a:xfrm>
            <a:off x="5715000" y="37307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سجل الترفيعات</a:t>
            </a:r>
            <a:endParaRPr lang="ar-SA" sz="1600" dirty="0"/>
          </a:p>
        </p:txBody>
      </p:sp>
      <p:sp>
        <p:nvSpPr>
          <p:cNvPr id="20" name="text-292"/>
          <p:cNvSpPr txBox="1"/>
          <p:nvPr/>
        </p:nvSpPr>
        <p:spPr>
          <a:xfrm>
            <a:off x="5715000" y="40050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كل ترفيع محفوظ في ملف العنصر بتاريخه ومن أجراه</a:t>
            </a:r>
            <a:endParaRPr lang="ar-SA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94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A85"/>
                </a:solidFill>
              </a:defRPr>
            </a:lvl1pPr>
          </a:lstStyle>
          <a:p>
            <a:pPr rtl="1"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93"/>
          <p:cNvSpPr txBox="1"/>
          <p:nvPr/>
        </p:nvSpPr>
        <p:spPr>
          <a:xfrm>
            <a:off x="7223760" y="7315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6000" b="1" dirty="0">
                <a:solidFill>
                  <a:schemeClr val="accent2"/>
                </a:solidFill>
              </a:rPr>
              <a:t>4</a:t>
            </a:r>
            <a:endParaRPr lang="ar-SA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المخيمات والاجتماعات والصناديق</a:t>
            </a:r>
            <a:endParaRPr lang="ar-SA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457200" y="2880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bg2"/>
                </a:solidFill>
              </a:rPr>
              <a:t>تنظيم المخيمات والدورات بأمان، توثيق المحاضر، ومال واضح</a:t>
            </a:r>
            <a:endParaRPr lang="ar-SA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المخيمات والدورات</a:t>
            </a:r>
            <a:endParaRPr lang="ar-SA" sz="3000" dirty="0"/>
          </a:p>
        </p:txBody>
      </p:sp>
      <p:sp>
        <p:nvSpPr>
          <p:cNvPr id="3" name="frame-294"/>
          <p:cNvSpPr/>
          <p:nvPr/>
        </p:nvSpPr>
        <p:spPr>
          <a:xfrm>
            <a:off x="420624" y="1197864"/>
            <a:ext cx="5010912" cy="3159252"/>
          </a:xfrm>
          <a:prstGeom prst="roundRect">
            <a:avLst>
              <a:gd name="adj" fmla="val 2894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pic>
        <p:nvPicPr>
          <p:cNvPr id="4" name="shot-29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937760" cy="3086100"/>
          </a:xfrm>
          <a:prstGeom prst="rect">
            <a:avLst/>
          </a:prstGeom>
        </p:spPr>
      </p:pic>
      <p:sp>
        <p:nvSpPr>
          <p:cNvPr id="5" name="bullets-296"/>
          <p:cNvSpPr txBox="1"/>
          <p:nvPr/>
        </p:nvSpPr>
        <p:spPr>
          <a:xfrm>
            <a:off x="5715000" y="1280160"/>
            <a:ext cx="2971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ar-SA" altLang="en-US" sz="1350" dirty="0">
                <a:solidFill>
                  <a:schemeClr val="tx1"/>
                </a:solidFill>
              </a:rPr>
              <a:t>مخيم أو دورة: التاريخ، المكان، الفرق والطلائع المشاركة</a:t>
            </a:r>
            <a:endParaRPr lang="ar-SA" sz="135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ar-SA" altLang="en-US" sz="1350" dirty="0">
                <a:solidFill>
                  <a:schemeClr val="tx1"/>
                </a:solidFill>
              </a:rPr>
              <a:t>المشاركون من العناصر ومن القادة، مع الانسحاب الموثّق</a:t>
            </a:r>
            <a:endParaRPr lang="ar-SA" sz="135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ar-SA" altLang="en-US" sz="1350" dirty="0">
                <a:solidFill>
                  <a:schemeClr val="tx1"/>
                </a:solidFill>
              </a:rPr>
              <a:t>الرسوم: المدفوع، المتبقي، والتبرعات</a:t>
            </a:r>
            <a:endParaRPr lang="ar-SA" sz="135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ar-SA" altLang="en-US" sz="1350" dirty="0">
                <a:solidFill>
                  <a:schemeClr val="tx1"/>
                </a:solidFill>
              </a:rPr>
              <a:t>الحضور اليومي داخل المخيم</a:t>
            </a:r>
            <a:endParaRPr lang="ar-SA" sz="135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ar-SA" altLang="en-US" sz="1350" dirty="0">
                <a:solidFill>
                  <a:schemeClr val="tx1"/>
                </a:solidFill>
              </a:rPr>
              <a:t>التقييم في النهاية: 5 نماذج جاهزة من منهج كشاف المهدي</a:t>
            </a:r>
            <a:endParaRPr lang="ar-SA" sz="135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ar-SA" altLang="en-US" sz="1350" dirty="0">
                <a:solidFill>
                  <a:schemeClr val="tx1"/>
                </a:solidFill>
              </a:rPr>
              <a:t>ملف المخيم للطباعة: قائمة النداء بالطلائع وهواتف الأهل</a:t>
            </a:r>
            <a:endParaRPr lang="ar-SA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94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A85"/>
                </a:solidFill>
              </a:defRPr>
            </a:lvl1pPr>
          </a:lstStyle>
          <a:p>
            <a:pPr rtl="1"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مخيم جاهز للانطلاق</a:t>
            </a:r>
            <a:endParaRPr lang="ar-SA" sz="3000" dirty="0"/>
          </a:p>
        </p:txBody>
      </p:sp>
      <p:sp>
        <p:nvSpPr>
          <p:cNvPr id="3" name="card-297"/>
          <p:cNvSpPr/>
          <p:nvPr/>
        </p:nvSpPr>
        <p:spPr>
          <a:xfrm>
            <a:off x="6800850" y="1280160"/>
            <a:ext cx="1885950" cy="2743200"/>
          </a:xfrm>
          <a:prstGeom prst="roundRect">
            <a:avLst>
              <a:gd name="adj" fmla="val 5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4" name="circle-298"/>
          <p:cNvSpPr/>
          <p:nvPr/>
        </p:nvSpPr>
        <p:spPr>
          <a:xfrm>
            <a:off x="7414641" y="1554480"/>
            <a:ext cx="658368" cy="6583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-29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2649" y="1712488"/>
            <a:ext cx="342351" cy="342351"/>
          </a:xfrm>
          <a:prstGeom prst="rect">
            <a:avLst/>
          </a:prstGeom>
        </p:spPr>
      </p:pic>
      <p:sp>
        <p:nvSpPr>
          <p:cNvPr id="6" name="text-300"/>
          <p:cNvSpPr txBox="1"/>
          <p:nvPr/>
        </p:nvSpPr>
        <p:spPr>
          <a:xfrm>
            <a:off x="6938010" y="2377440"/>
            <a:ext cx="16116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الملف الصحي</a:t>
            </a:r>
            <a:endParaRPr lang="ar-SA" sz="1600" dirty="0"/>
          </a:p>
        </p:txBody>
      </p:sp>
      <p:sp>
        <p:nvSpPr>
          <p:cNvPr id="7" name="text-301"/>
          <p:cNvSpPr txBox="1"/>
          <p:nvPr/>
        </p:nvSpPr>
        <p:spPr>
          <a:xfrm>
            <a:off x="6983730" y="2788920"/>
            <a:ext cx="152019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accent6"/>
                </a:solidFill>
              </a:rPr>
              <a:t>فصيلة الدم، الحساسية، الأدوية، الطبيب. يظهر تنبيه لكل مشارك ملفه ناقص</a:t>
            </a:r>
            <a:endParaRPr lang="ar-SA" sz="1200" dirty="0"/>
          </a:p>
        </p:txBody>
      </p:sp>
      <p:sp>
        <p:nvSpPr>
          <p:cNvPr id="8" name="card-302"/>
          <p:cNvSpPr/>
          <p:nvPr/>
        </p:nvSpPr>
        <p:spPr>
          <a:xfrm>
            <a:off x="4686300" y="1280160"/>
            <a:ext cx="1885950" cy="2743200"/>
          </a:xfrm>
          <a:prstGeom prst="roundRect">
            <a:avLst>
              <a:gd name="adj" fmla="val 5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9" name="circle-303"/>
          <p:cNvSpPr/>
          <p:nvPr/>
        </p:nvSpPr>
        <p:spPr>
          <a:xfrm>
            <a:off x="5300091" y="155448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-30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099" y="1712488"/>
            <a:ext cx="342351" cy="342351"/>
          </a:xfrm>
          <a:prstGeom prst="rect">
            <a:avLst/>
          </a:prstGeom>
        </p:spPr>
      </p:pic>
      <p:sp>
        <p:nvSpPr>
          <p:cNvPr id="11" name="text-305"/>
          <p:cNvSpPr txBox="1"/>
          <p:nvPr/>
        </p:nvSpPr>
        <p:spPr>
          <a:xfrm>
            <a:off x="4823460" y="2377440"/>
            <a:ext cx="16116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إذن الأهل</a:t>
            </a:r>
            <a:endParaRPr lang="ar-SA" sz="1600" dirty="0"/>
          </a:p>
        </p:txBody>
      </p:sp>
      <p:sp>
        <p:nvSpPr>
          <p:cNvPr id="12" name="text-306"/>
          <p:cNvSpPr txBox="1"/>
          <p:nvPr/>
        </p:nvSpPr>
        <p:spPr>
          <a:xfrm>
            <a:off x="4869180" y="2788920"/>
            <a:ext cx="152019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accent6"/>
                </a:solidFill>
              </a:rPr>
              <a:t>الإذن الموقّع يُرفق في ملف العنصر، والمخيم يعرض من لم يسلّمه بعد</a:t>
            </a:r>
            <a:endParaRPr lang="ar-SA" sz="1200" dirty="0"/>
          </a:p>
        </p:txBody>
      </p:sp>
      <p:sp>
        <p:nvSpPr>
          <p:cNvPr id="13" name="card-307"/>
          <p:cNvSpPr/>
          <p:nvPr/>
        </p:nvSpPr>
        <p:spPr>
          <a:xfrm>
            <a:off x="2571750" y="1280160"/>
            <a:ext cx="1885950" cy="2743200"/>
          </a:xfrm>
          <a:prstGeom prst="roundRect">
            <a:avLst>
              <a:gd name="adj" fmla="val 5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14" name="circle-308"/>
          <p:cNvSpPr/>
          <p:nvPr/>
        </p:nvSpPr>
        <p:spPr>
          <a:xfrm>
            <a:off x="3185541" y="1554480"/>
            <a:ext cx="658368" cy="65836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icon-30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549" y="1712488"/>
            <a:ext cx="342351" cy="342351"/>
          </a:xfrm>
          <a:prstGeom prst="rect">
            <a:avLst/>
          </a:prstGeom>
        </p:spPr>
      </p:pic>
      <p:sp>
        <p:nvSpPr>
          <p:cNvPr id="16" name="text-310"/>
          <p:cNvSpPr txBox="1"/>
          <p:nvPr/>
        </p:nvSpPr>
        <p:spPr>
          <a:xfrm>
            <a:off x="2708910" y="2377440"/>
            <a:ext cx="16116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قائمة السلامة</a:t>
            </a:r>
            <a:endParaRPr lang="ar-SA" sz="1600" dirty="0"/>
          </a:p>
        </p:txBody>
      </p:sp>
      <p:sp>
        <p:nvSpPr>
          <p:cNvPr id="17" name="text-311"/>
          <p:cNvSpPr txBox="1"/>
          <p:nvPr/>
        </p:nvSpPr>
        <p:spPr>
          <a:xfrm>
            <a:off x="2754630" y="2788920"/>
            <a:ext cx="152019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accent6"/>
                </a:solidFill>
              </a:rPr>
              <a:t>حقيبة الإسعاف، المطفأة، خطة الإخلاء، نقطة التجمع، أرقام الطوارئ</a:t>
            </a:r>
            <a:endParaRPr lang="ar-SA" sz="1200" dirty="0"/>
          </a:p>
        </p:txBody>
      </p:sp>
      <p:sp>
        <p:nvSpPr>
          <p:cNvPr id="18" name="card-312"/>
          <p:cNvSpPr/>
          <p:nvPr/>
        </p:nvSpPr>
        <p:spPr>
          <a:xfrm>
            <a:off x="457200" y="1280160"/>
            <a:ext cx="1885950" cy="2743200"/>
          </a:xfrm>
          <a:prstGeom prst="roundRect">
            <a:avLst>
              <a:gd name="adj" fmla="val 5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19" name="circle-313"/>
          <p:cNvSpPr/>
          <p:nvPr/>
        </p:nvSpPr>
        <p:spPr>
          <a:xfrm>
            <a:off x="1070991" y="1554480"/>
            <a:ext cx="658368" cy="6583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con-31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999" y="1712488"/>
            <a:ext cx="342351" cy="342351"/>
          </a:xfrm>
          <a:prstGeom prst="rect">
            <a:avLst/>
          </a:prstGeom>
        </p:spPr>
      </p:pic>
      <p:sp>
        <p:nvSpPr>
          <p:cNvPr id="21" name="text-315"/>
          <p:cNvSpPr txBox="1"/>
          <p:nvPr/>
        </p:nvSpPr>
        <p:spPr>
          <a:xfrm>
            <a:off x="594360" y="2377440"/>
            <a:ext cx="16116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ملف المخيم</a:t>
            </a:r>
            <a:endParaRPr lang="ar-SA" sz="1600" dirty="0"/>
          </a:p>
        </p:txBody>
      </p:sp>
      <p:sp>
        <p:nvSpPr>
          <p:cNvPr id="22" name="text-316"/>
          <p:cNvSpPr txBox="1"/>
          <p:nvPr/>
        </p:nvSpPr>
        <p:spPr>
          <a:xfrm>
            <a:off x="640080" y="2788920"/>
            <a:ext cx="152019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accent6"/>
                </a:solidFill>
              </a:rPr>
              <a:t>ملف PDF واحد: القوائم، الطلائع، الهواتف، الحالات الصحية الخاصة</a:t>
            </a:r>
            <a:endParaRPr lang="ar-SA" sz="1200" dirty="0"/>
          </a:p>
        </p:txBody>
      </p:sp>
      <p:sp>
        <p:nvSpPr>
          <p:cNvPr id="23" name="text-317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i="1" dirty="0">
                <a:solidFill>
                  <a:schemeClr val="tx2"/>
                </a:solidFill>
              </a:rPr>
              <a:t>لا ينطلق مخيم بطفل لا نعرف عنه سوى اسمه.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94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A85"/>
                </a:solidFill>
              </a:defRPr>
            </a:lvl1pPr>
          </a:lstStyle>
          <a:p>
            <a:pPr rtl="1"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الاجتماعات: محاضر موثّقة</a:t>
            </a:r>
            <a:endParaRPr lang="ar-SA" sz="3000" dirty="0"/>
          </a:p>
        </p:txBody>
      </p:sp>
      <p:sp>
        <p:nvSpPr>
          <p:cNvPr id="3" name="card-318"/>
          <p:cNvSpPr/>
          <p:nvPr/>
        </p:nvSpPr>
        <p:spPr>
          <a:xfrm>
            <a:off x="457200" y="1234440"/>
            <a:ext cx="365760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4" name="text-319"/>
          <p:cNvSpPr txBox="1"/>
          <p:nvPr/>
        </p:nvSpPr>
        <p:spPr>
          <a:xfrm>
            <a:off x="731520" y="1463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tx2"/>
                </a:solidFill>
              </a:rPr>
              <a:t>محضر اجتماع الهيئة القيادية</a:t>
            </a:r>
            <a:endParaRPr lang="ar-SA" sz="1400" dirty="0"/>
          </a:p>
        </p:txBody>
      </p:sp>
      <p:sp>
        <p:nvSpPr>
          <p:cNvPr id="5" name="text-320"/>
          <p:cNvSpPr txBox="1"/>
          <p:nvPr/>
        </p:nvSpPr>
        <p:spPr>
          <a:xfrm>
            <a:off x="73152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050" dirty="0">
                <a:solidFill>
                  <a:schemeClr val="accent6"/>
                </a:solidFill>
              </a:rPr>
              <a:t>السبت 17 أكتوبر 2026 · 14 حاضرًا · 2 معتذران</a:t>
            </a:r>
            <a:endParaRPr lang="ar-SA" sz="1050" dirty="0"/>
          </a:p>
        </p:txBody>
      </p:sp>
      <p:sp>
        <p:nvSpPr>
          <p:cNvPr id="6" name="text-321"/>
          <p:cNvSpPr txBox="1"/>
          <p:nvPr/>
        </p:nvSpPr>
        <p:spPr>
          <a:xfrm>
            <a:off x="731520" y="21945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chemeClr val="accent1"/>
                </a:solidFill>
              </a:rPr>
              <a:t>جدول الأعمال</a:t>
            </a:r>
            <a:endParaRPr lang="ar-SA" sz="1200" dirty="0"/>
          </a:p>
        </p:txBody>
      </p:sp>
      <p:sp>
        <p:nvSpPr>
          <p:cNvPr id="7" name="text-322"/>
          <p:cNvSpPr txBox="1"/>
          <p:nvPr/>
        </p:nvSpPr>
        <p:spPr>
          <a:xfrm>
            <a:off x="731520" y="24505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chemeClr val="tx1"/>
                </a:solidFill>
              </a:rPr>
              <a:t>1. برنامج الفصل  2. مخيم الشتاء  3. الاشتراكات</a:t>
            </a:r>
            <a:endParaRPr lang="ar-SA" sz="1100" dirty="0"/>
          </a:p>
        </p:txBody>
      </p:sp>
      <p:sp>
        <p:nvSpPr>
          <p:cNvPr id="8" name="text-323"/>
          <p:cNvSpPr txBox="1"/>
          <p:nvPr/>
        </p:nvSpPr>
        <p:spPr>
          <a:xfrm>
            <a:off x="731520" y="29260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chemeClr val="accent1"/>
                </a:solidFill>
              </a:rPr>
              <a:t>القرارات</a:t>
            </a:r>
            <a:endParaRPr lang="ar-SA" sz="1200" dirty="0"/>
          </a:p>
        </p:txBody>
      </p:sp>
      <p:sp>
        <p:nvSpPr>
          <p:cNvPr id="9" name="text-324"/>
          <p:cNvSpPr txBox="1"/>
          <p:nvPr/>
        </p:nvSpPr>
        <p:spPr>
          <a:xfrm>
            <a:off x="731520" y="31821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chemeClr val="tx1"/>
                </a:solidFill>
              </a:rPr>
              <a:t>تثبيت موعد المخيم: 26 ديسمبر · المكلّف: حسين · قبل: 15 نوفمبر</a:t>
            </a:r>
            <a:endParaRPr lang="ar-SA" sz="1100" dirty="0"/>
          </a:p>
        </p:txBody>
      </p:sp>
      <p:sp>
        <p:nvSpPr>
          <p:cNvPr id="10" name="text-325"/>
          <p:cNvSpPr txBox="1"/>
          <p:nvPr/>
        </p:nvSpPr>
        <p:spPr>
          <a:xfrm>
            <a:off x="731520" y="36576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chemeClr val="accent1"/>
                </a:solidFill>
              </a:rPr>
              <a:t>متابعة</a:t>
            </a:r>
            <a:endParaRPr lang="ar-SA" sz="1200" dirty="0"/>
          </a:p>
        </p:txBody>
      </p:sp>
      <p:sp>
        <p:nvSpPr>
          <p:cNvPr id="11" name="text-326"/>
          <p:cNvSpPr txBox="1"/>
          <p:nvPr/>
        </p:nvSpPr>
        <p:spPr>
          <a:xfrm>
            <a:off x="731520" y="39136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chemeClr val="tx1"/>
                </a:solidFill>
              </a:rPr>
              <a:t>قرار الاجتماع السابق «شراء خيمتين»: منجز ✓</a:t>
            </a:r>
            <a:endParaRPr lang="ar-SA" sz="1100" dirty="0"/>
          </a:p>
        </p:txBody>
      </p:sp>
      <p:sp>
        <p:nvSpPr>
          <p:cNvPr id="12" name="text-327"/>
          <p:cNvSpPr txBox="1"/>
          <p:nvPr/>
        </p:nvSpPr>
        <p:spPr>
          <a:xfrm>
            <a:off x="731520" y="4206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950" dirty="0">
                <a:solidFill>
                  <a:schemeClr val="accent6"/>
                </a:solidFill>
              </a:rPr>
              <a:t>مثال توضيحي</a:t>
            </a:r>
            <a:endParaRPr lang="ar-SA" sz="950" dirty="0"/>
          </a:p>
        </p:txBody>
      </p:sp>
      <p:sp>
        <p:nvSpPr>
          <p:cNvPr id="13" name="circle-328"/>
          <p:cNvSpPr/>
          <p:nvPr/>
        </p:nvSpPr>
        <p:spPr>
          <a:xfrm>
            <a:off x="822960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-32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28" y="1389888"/>
            <a:ext cx="237744" cy="237744"/>
          </a:xfrm>
          <a:prstGeom prst="rect">
            <a:avLst/>
          </a:prstGeom>
        </p:spPr>
      </p:pic>
      <p:sp>
        <p:nvSpPr>
          <p:cNvPr id="15" name="text-330"/>
          <p:cNvSpPr txBox="1"/>
          <p:nvPr/>
        </p:nvSpPr>
        <p:spPr>
          <a:xfrm>
            <a:off x="4480560" y="12618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الحضور</a:t>
            </a:r>
            <a:endParaRPr lang="ar-SA" sz="1600" dirty="0"/>
          </a:p>
        </p:txBody>
      </p:sp>
      <p:sp>
        <p:nvSpPr>
          <p:cNvPr id="16" name="text-331"/>
          <p:cNvSpPr txBox="1"/>
          <p:nvPr/>
        </p:nvSpPr>
        <p:spPr>
          <a:xfrm>
            <a:off x="4480560" y="15361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من حضر ومن اعتذر من القادة</a:t>
            </a:r>
            <a:endParaRPr lang="ar-SA" sz="1250" dirty="0"/>
          </a:p>
        </p:txBody>
      </p:sp>
      <p:sp>
        <p:nvSpPr>
          <p:cNvPr id="17" name="circle-332"/>
          <p:cNvSpPr/>
          <p:nvPr/>
        </p:nvSpPr>
        <p:spPr>
          <a:xfrm>
            <a:off x="8229600" y="21031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icon-33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2212848"/>
            <a:ext cx="237744" cy="237744"/>
          </a:xfrm>
          <a:prstGeom prst="rect">
            <a:avLst/>
          </a:prstGeom>
        </p:spPr>
      </p:pic>
      <p:sp>
        <p:nvSpPr>
          <p:cNvPr id="19" name="text-334"/>
          <p:cNvSpPr txBox="1"/>
          <p:nvPr/>
        </p:nvSpPr>
        <p:spPr>
          <a:xfrm>
            <a:off x="4480560" y="2084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جدول الأعمال والقرارات</a:t>
            </a:r>
            <a:endParaRPr lang="ar-SA" sz="1600" dirty="0"/>
          </a:p>
        </p:txBody>
      </p:sp>
      <p:sp>
        <p:nvSpPr>
          <p:cNvPr id="20" name="text-335"/>
          <p:cNvSpPr txBox="1"/>
          <p:nvPr/>
        </p:nvSpPr>
        <p:spPr>
          <a:xfrm>
            <a:off x="4480560" y="23591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لكل قرار مكلّف وموعد، ويُتابع في الاجتماع التالي</a:t>
            </a:r>
            <a:endParaRPr lang="ar-SA" sz="1250" dirty="0"/>
          </a:p>
        </p:txBody>
      </p:sp>
      <p:sp>
        <p:nvSpPr>
          <p:cNvPr id="21" name="circle-336"/>
          <p:cNvSpPr/>
          <p:nvPr/>
        </p:nvSpPr>
        <p:spPr>
          <a:xfrm>
            <a:off x="8229600" y="292608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2" name="icon-33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3035808"/>
            <a:ext cx="237744" cy="237744"/>
          </a:xfrm>
          <a:prstGeom prst="rect">
            <a:avLst/>
          </a:prstGeom>
        </p:spPr>
      </p:pic>
      <p:sp>
        <p:nvSpPr>
          <p:cNvPr id="23" name="text-338"/>
          <p:cNvSpPr txBox="1"/>
          <p:nvPr/>
        </p:nvSpPr>
        <p:spPr>
          <a:xfrm>
            <a:off x="4480560" y="29077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تنبيه عند التعديل</a:t>
            </a:r>
            <a:endParaRPr lang="ar-SA" sz="1600" dirty="0"/>
          </a:p>
        </p:txBody>
      </p:sp>
      <p:sp>
        <p:nvSpPr>
          <p:cNvPr id="24" name="text-339"/>
          <p:cNvSpPr txBox="1"/>
          <p:nvPr/>
        </p:nvSpPr>
        <p:spPr>
          <a:xfrm>
            <a:off x="4480560" y="31821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أي تغيير في المحضر يُبلَّغ به الحاضرون</a:t>
            </a:r>
            <a:endParaRPr lang="ar-SA" sz="1250" dirty="0"/>
          </a:p>
        </p:txBody>
      </p:sp>
      <p:sp>
        <p:nvSpPr>
          <p:cNvPr id="25" name="circle-340"/>
          <p:cNvSpPr/>
          <p:nvPr/>
        </p:nvSpPr>
        <p:spPr>
          <a:xfrm>
            <a:off x="8229600" y="3749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6" name="icon-34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3858768"/>
            <a:ext cx="237744" cy="237744"/>
          </a:xfrm>
          <a:prstGeom prst="rect">
            <a:avLst/>
          </a:prstGeom>
        </p:spPr>
      </p:pic>
      <p:sp>
        <p:nvSpPr>
          <p:cNvPr id="27" name="text-342"/>
          <p:cNvSpPr txBox="1"/>
          <p:nvPr/>
        </p:nvSpPr>
        <p:spPr>
          <a:xfrm>
            <a:off x="4480560" y="3730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PDF وExcel</a:t>
            </a:r>
            <a:endParaRPr lang="ar-SA" sz="1600" dirty="0"/>
          </a:p>
        </p:txBody>
      </p:sp>
      <p:sp>
        <p:nvSpPr>
          <p:cNvPr id="28" name="text-343"/>
          <p:cNvSpPr txBox="1"/>
          <p:nvPr/>
        </p:nvSpPr>
        <p:spPr>
          <a:xfrm>
            <a:off x="4480560" y="40050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المحضر جاهز للإرسال إلى القيادة</a:t>
            </a:r>
            <a:endParaRPr lang="ar-SA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94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A85"/>
                </a:solidFill>
              </a:defRPr>
            </a:lvl1pPr>
          </a:lstStyle>
          <a:p>
            <a:pPr rtl="1"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الصناديق: المال واضح</a:t>
            </a:r>
            <a:endParaRPr lang="ar-SA" sz="3000" dirty="0"/>
          </a:p>
        </p:txBody>
      </p:sp>
      <p:sp>
        <p:nvSpPr>
          <p:cNvPr id="3" name="frame-344"/>
          <p:cNvSpPr/>
          <p:nvPr/>
        </p:nvSpPr>
        <p:spPr>
          <a:xfrm>
            <a:off x="420624" y="1197864"/>
            <a:ext cx="5010912" cy="3159252"/>
          </a:xfrm>
          <a:prstGeom prst="roundRect">
            <a:avLst>
              <a:gd name="adj" fmla="val 2894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pic>
        <p:nvPicPr>
          <p:cNvPr id="4" name="shot-34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937760" cy="3086100"/>
          </a:xfrm>
          <a:prstGeom prst="rect">
            <a:avLst/>
          </a:prstGeom>
        </p:spPr>
      </p:pic>
      <p:sp>
        <p:nvSpPr>
          <p:cNvPr id="5" name="circle-346"/>
          <p:cNvSpPr/>
          <p:nvPr/>
        </p:nvSpPr>
        <p:spPr>
          <a:xfrm>
            <a:off x="822960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34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1389888"/>
            <a:ext cx="237744" cy="237744"/>
          </a:xfrm>
          <a:prstGeom prst="rect">
            <a:avLst/>
          </a:prstGeom>
        </p:spPr>
      </p:pic>
      <p:sp>
        <p:nvSpPr>
          <p:cNvPr id="7" name="text-348"/>
          <p:cNvSpPr txBox="1"/>
          <p:nvPr/>
        </p:nvSpPr>
        <p:spPr>
          <a:xfrm>
            <a:off x="5715000" y="12618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صندوق الفوج + صندوق لكل فرقة</a:t>
            </a:r>
            <a:endParaRPr lang="ar-SA" sz="1600" dirty="0"/>
          </a:p>
        </p:txBody>
      </p:sp>
      <p:sp>
        <p:nvSpPr>
          <p:cNvPr id="8" name="text-349"/>
          <p:cNvSpPr txBox="1"/>
          <p:nvPr/>
        </p:nvSpPr>
        <p:spPr>
          <a:xfrm>
            <a:off x="5715000" y="15361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كل حركة لها تاريخ وسبب ومن سجّلها</a:t>
            </a:r>
            <a:endParaRPr lang="ar-SA" sz="1250" dirty="0"/>
          </a:p>
        </p:txBody>
      </p:sp>
      <p:sp>
        <p:nvSpPr>
          <p:cNvPr id="9" name="circle-350"/>
          <p:cNvSpPr/>
          <p:nvPr/>
        </p:nvSpPr>
        <p:spPr>
          <a:xfrm>
            <a:off x="8229600" y="21031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con-35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2212848"/>
            <a:ext cx="237744" cy="237744"/>
          </a:xfrm>
          <a:prstGeom prst="rect">
            <a:avLst/>
          </a:prstGeom>
        </p:spPr>
      </p:pic>
      <p:sp>
        <p:nvSpPr>
          <p:cNvPr id="11" name="text-352"/>
          <p:cNvSpPr txBox="1"/>
          <p:nvPr/>
        </p:nvSpPr>
        <p:spPr>
          <a:xfrm>
            <a:off x="5715000" y="20848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تحويلات وديون</a:t>
            </a:r>
            <a:endParaRPr lang="ar-SA" sz="1600" dirty="0"/>
          </a:p>
        </p:txBody>
      </p:sp>
      <p:sp>
        <p:nvSpPr>
          <p:cNvPr id="12" name="text-353"/>
          <p:cNvSpPr txBox="1"/>
          <p:nvPr/>
        </p:nvSpPr>
        <p:spPr>
          <a:xfrm>
            <a:off x="5715000" y="23591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تحويل بين الصناديق، وما تدين به فرقة للفوج</a:t>
            </a:r>
            <a:endParaRPr lang="ar-SA" sz="1250" dirty="0"/>
          </a:p>
        </p:txBody>
      </p:sp>
      <p:sp>
        <p:nvSpPr>
          <p:cNvPr id="13" name="circle-354"/>
          <p:cNvSpPr/>
          <p:nvPr/>
        </p:nvSpPr>
        <p:spPr>
          <a:xfrm>
            <a:off x="8229600" y="292608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icon-35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3035808"/>
            <a:ext cx="237744" cy="237744"/>
          </a:xfrm>
          <a:prstGeom prst="rect">
            <a:avLst/>
          </a:prstGeom>
        </p:spPr>
      </p:pic>
      <p:sp>
        <p:nvSpPr>
          <p:cNvPr id="15" name="text-356"/>
          <p:cNvSpPr txBox="1"/>
          <p:nvPr/>
        </p:nvSpPr>
        <p:spPr>
          <a:xfrm>
            <a:off x="5715000" y="29077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نتيجة كل نشاط ومخيم</a:t>
            </a:r>
            <a:endParaRPr lang="ar-SA" sz="1600" dirty="0"/>
          </a:p>
        </p:txBody>
      </p:sp>
      <p:sp>
        <p:nvSpPr>
          <p:cNvPr id="16" name="text-357"/>
          <p:cNvSpPr txBox="1"/>
          <p:nvPr/>
        </p:nvSpPr>
        <p:spPr>
          <a:xfrm>
            <a:off x="5715000" y="31821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المداخيل والمصاريف، ربح أو عجز، وتمويل المخيمات</a:t>
            </a:r>
            <a:endParaRPr lang="ar-SA" sz="1250" dirty="0"/>
          </a:p>
        </p:txBody>
      </p:sp>
      <p:sp>
        <p:nvSpPr>
          <p:cNvPr id="17" name="circle-358"/>
          <p:cNvSpPr/>
          <p:nvPr/>
        </p:nvSpPr>
        <p:spPr>
          <a:xfrm>
            <a:off x="8229600" y="374904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icon-35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8" y="3858768"/>
            <a:ext cx="237744" cy="237744"/>
          </a:xfrm>
          <a:prstGeom prst="rect">
            <a:avLst/>
          </a:prstGeom>
        </p:spPr>
      </p:pic>
      <p:sp>
        <p:nvSpPr>
          <p:cNvPr id="19" name="text-360"/>
          <p:cNvSpPr txBox="1"/>
          <p:nvPr/>
        </p:nvSpPr>
        <p:spPr>
          <a:xfrm>
            <a:off x="5715000" y="37307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يومية الصندوق</a:t>
            </a:r>
            <a:endParaRPr lang="ar-SA" sz="1600" dirty="0"/>
          </a:p>
        </p:txBody>
      </p:sp>
      <p:sp>
        <p:nvSpPr>
          <p:cNvPr id="20" name="text-361"/>
          <p:cNvSpPr txBox="1"/>
          <p:nvPr/>
        </p:nvSpPr>
        <p:spPr>
          <a:xfrm>
            <a:off x="5715000" y="40050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تصدير PDF وExcel لكل صندوق أو لكل فترة</a:t>
            </a:r>
            <a:endParaRPr lang="ar-SA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94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A85"/>
                </a:solidFill>
              </a:defRPr>
            </a:lvl1pPr>
          </a:lstStyle>
          <a:p>
            <a:pPr rtl="1"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الاشتراكات الشهرية</a:t>
            </a:r>
            <a:endParaRPr lang="ar-SA" sz="3000" dirty="0"/>
          </a:p>
        </p:txBody>
      </p:sp>
      <p:sp>
        <p:nvSpPr>
          <p:cNvPr id="3" name="card-362"/>
          <p:cNvSpPr/>
          <p:nvPr/>
        </p:nvSpPr>
        <p:spPr>
          <a:xfrm>
            <a:off x="5760720" y="1234440"/>
            <a:ext cx="2926080" cy="3291840"/>
          </a:xfrm>
          <a:prstGeom prst="roundRect">
            <a:avLst>
              <a:gd name="adj" fmla="val 3750"/>
            </a:avLst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4" name="text-363"/>
          <p:cNvSpPr txBox="1"/>
          <p:nvPr/>
        </p:nvSpPr>
        <p:spPr>
          <a:xfrm>
            <a:off x="5760720" y="14630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b="1" dirty="0">
                <a:solidFill>
                  <a:schemeClr val="accent2"/>
                </a:solidFill>
              </a:rPr>
              <a:t>2000 فرنك</a:t>
            </a:r>
            <a:endParaRPr lang="ar-SA" sz="5400" dirty="0"/>
          </a:p>
        </p:txBody>
      </p:sp>
      <p:sp>
        <p:nvSpPr>
          <p:cNvPr id="5" name="text-364"/>
          <p:cNvSpPr txBox="1"/>
          <p:nvPr/>
        </p:nvSpPr>
        <p:spPr>
          <a:xfrm>
            <a:off x="594360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لكل عنصر في الشهر</a:t>
            </a:r>
            <a:endParaRPr lang="ar-SA" sz="1700" dirty="0"/>
          </a:p>
        </p:txBody>
      </p:sp>
      <p:sp>
        <p:nvSpPr>
          <p:cNvPr id="6" name="text-365"/>
          <p:cNvSpPr txBox="1"/>
          <p:nvPr/>
        </p:nvSpPr>
        <p:spPr>
          <a:xfrm>
            <a:off x="6035040" y="30632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50" dirty="0">
                <a:solidFill>
                  <a:schemeClr val="bg2"/>
                </a:solidFill>
              </a:rPr>
              <a:t>تُسجَّل الدفعات عند تسجيل الحضور، على دفعات من 500 فرنك. التعرفة قابلة للضبط لكل فرقة.</a:t>
            </a:r>
            <a:endParaRPr lang="ar-SA" sz="1250" dirty="0"/>
          </a:p>
        </p:txBody>
      </p:sp>
      <p:sp>
        <p:nvSpPr>
          <p:cNvPr id="7" name="circle-366"/>
          <p:cNvSpPr/>
          <p:nvPr/>
        </p:nvSpPr>
        <p:spPr>
          <a:xfrm>
            <a:off x="498348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-36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3208" y="1389888"/>
            <a:ext cx="237744" cy="237744"/>
          </a:xfrm>
          <a:prstGeom prst="rect">
            <a:avLst/>
          </a:prstGeom>
        </p:spPr>
      </p:pic>
      <p:sp>
        <p:nvSpPr>
          <p:cNvPr id="9" name="text-368"/>
          <p:cNvSpPr txBox="1"/>
          <p:nvPr/>
        </p:nvSpPr>
        <p:spPr>
          <a:xfrm>
            <a:off x="457200" y="126187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تسجيل من شاشة الحضور</a:t>
            </a:r>
            <a:endParaRPr lang="ar-SA" sz="1600" dirty="0"/>
          </a:p>
        </p:txBody>
      </p:sp>
      <p:sp>
        <p:nvSpPr>
          <p:cNvPr id="10" name="text-369"/>
          <p:cNvSpPr txBox="1"/>
          <p:nvPr/>
        </p:nvSpPr>
        <p:spPr>
          <a:xfrm>
            <a:off x="457200" y="153619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القائد يسجّل الدفع في اللحظة نفسها، بلا دفتر منفصل</a:t>
            </a:r>
            <a:endParaRPr lang="ar-SA" sz="1250" dirty="0"/>
          </a:p>
        </p:txBody>
      </p:sp>
      <p:sp>
        <p:nvSpPr>
          <p:cNvPr id="11" name="circle-370"/>
          <p:cNvSpPr/>
          <p:nvPr/>
        </p:nvSpPr>
        <p:spPr>
          <a:xfrm>
            <a:off x="4983480" y="21031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-37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2212848"/>
            <a:ext cx="237744" cy="237744"/>
          </a:xfrm>
          <a:prstGeom prst="rect">
            <a:avLst/>
          </a:prstGeom>
        </p:spPr>
      </p:pic>
      <p:sp>
        <p:nvSpPr>
          <p:cNvPr id="13" name="text-372"/>
          <p:cNvSpPr txBox="1"/>
          <p:nvPr/>
        </p:nvSpPr>
        <p:spPr>
          <a:xfrm>
            <a:off x="457200" y="208483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المتأخرات حسب الفرقة</a:t>
            </a:r>
            <a:endParaRPr lang="ar-SA" sz="1600" dirty="0"/>
          </a:p>
        </p:txBody>
      </p:sp>
      <p:sp>
        <p:nvSpPr>
          <p:cNvPr id="14" name="text-373"/>
          <p:cNvSpPr txBox="1"/>
          <p:nvPr/>
        </p:nvSpPr>
        <p:spPr>
          <a:xfrm>
            <a:off x="457200" y="235915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من يدين بكم، من أي شهر، مع إعفاءات للحالات الخاصة</a:t>
            </a:r>
            <a:endParaRPr lang="ar-SA" sz="1250" dirty="0"/>
          </a:p>
        </p:txBody>
      </p:sp>
      <p:sp>
        <p:nvSpPr>
          <p:cNvPr id="15" name="circle-374"/>
          <p:cNvSpPr/>
          <p:nvPr/>
        </p:nvSpPr>
        <p:spPr>
          <a:xfrm>
            <a:off x="4983480" y="29260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con-37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208" y="3035808"/>
            <a:ext cx="237744" cy="237744"/>
          </a:xfrm>
          <a:prstGeom prst="rect">
            <a:avLst/>
          </a:prstGeom>
        </p:spPr>
      </p:pic>
      <p:sp>
        <p:nvSpPr>
          <p:cNvPr id="17" name="text-376"/>
          <p:cNvSpPr txBox="1"/>
          <p:nvPr/>
        </p:nvSpPr>
        <p:spPr>
          <a:xfrm>
            <a:off x="457200" y="290779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تذكيرات</a:t>
            </a:r>
            <a:endParaRPr lang="ar-SA" sz="1600" dirty="0"/>
          </a:p>
        </p:txBody>
      </p:sp>
      <p:sp>
        <p:nvSpPr>
          <p:cNvPr id="18" name="text-377"/>
          <p:cNvSpPr txBox="1"/>
          <p:nvPr/>
        </p:nvSpPr>
        <p:spPr>
          <a:xfrm>
            <a:off x="457200" y="318211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«اشتراكات لم تُسجَّل» في الصفحة الرئيسية، وتنبيه للقائد</a:t>
            </a:r>
            <a:endParaRPr lang="ar-SA" sz="1250" dirty="0"/>
          </a:p>
        </p:txBody>
      </p:sp>
      <p:sp>
        <p:nvSpPr>
          <p:cNvPr id="19" name="circle-378"/>
          <p:cNvSpPr/>
          <p:nvPr/>
        </p:nvSpPr>
        <p:spPr>
          <a:xfrm>
            <a:off x="4983480" y="374904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0" name="icon-37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3858768"/>
            <a:ext cx="237744" cy="237744"/>
          </a:xfrm>
          <a:prstGeom prst="rect">
            <a:avLst/>
          </a:prstGeom>
        </p:spPr>
      </p:pic>
      <p:sp>
        <p:nvSpPr>
          <p:cNvPr id="21" name="text-380"/>
          <p:cNvSpPr txBox="1"/>
          <p:nvPr/>
        </p:nvSpPr>
        <p:spPr>
          <a:xfrm>
            <a:off x="457200" y="373075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اشتراكات القادة أيضًا</a:t>
            </a:r>
            <a:endParaRPr lang="ar-SA" sz="1600" dirty="0"/>
          </a:p>
        </p:txBody>
      </p:sp>
      <p:sp>
        <p:nvSpPr>
          <p:cNvPr id="22" name="text-381"/>
          <p:cNvSpPr txBox="1"/>
          <p:nvPr/>
        </p:nvSpPr>
        <p:spPr>
          <a:xfrm>
            <a:off x="457200" y="400507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تُتابع في صفحة القادة بنفس الطريقة</a:t>
            </a:r>
            <a:endParaRPr lang="ar-SA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94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A85"/>
                </a:solidFill>
              </a:defRPr>
            </a:lvl1pPr>
          </a:lstStyle>
          <a:p>
            <a:pPr rtl="1"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382"/>
          <p:cNvSpPr txBox="1"/>
          <p:nvPr/>
        </p:nvSpPr>
        <p:spPr>
          <a:xfrm>
            <a:off x="7223760" y="7315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6000" b="1" dirty="0">
                <a:solidFill>
                  <a:schemeClr val="accent2"/>
                </a:solidFill>
              </a:rPr>
              <a:t>5</a:t>
            </a:r>
            <a:endParaRPr lang="ar-SA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القادة والتقارير والأمان</a:t>
            </a:r>
            <a:endParaRPr lang="ar-SA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457200" y="2880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bg2"/>
                </a:solidFill>
              </a:rPr>
              <a:t>الحسابات والصلاحيات، الإشعارات، التصدير، الهاتف، وحماية البيانات</a:t>
            </a:r>
            <a:endParaRPr lang="ar-SA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القادة والتشكيلة القيادية</a:t>
            </a:r>
            <a:endParaRPr lang="ar-SA" sz="3000" dirty="0"/>
          </a:p>
        </p:txBody>
      </p:sp>
      <p:sp>
        <p:nvSpPr>
          <p:cNvPr id="3" name="frame-383"/>
          <p:cNvSpPr/>
          <p:nvPr/>
        </p:nvSpPr>
        <p:spPr>
          <a:xfrm>
            <a:off x="420624" y="1197864"/>
            <a:ext cx="5010912" cy="3159252"/>
          </a:xfrm>
          <a:prstGeom prst="roundRect">
            <a:avLst>
              <a:gd name="adj" fmla="val 2894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pic>
        <p:nvPicPr>
          <p:cNvPr id="4" name="shot-38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937760" cy="3086100"/>
          </a:xfrm>
          <a:prstGeom prst="rect">
            <a:avLst/>
          </a:prstGeom>
        </p:spPr>
      </p:pic>
      <p:sp>
        <p:nvSpPr>
          <p:cNvPr id="5" name="circle-385"/>
          <p:cNvSpPr/>
          <p:nvPr/>
        </p:nvSpPr>
        <p:spPr>
          <a:xfrm>
            <a:off x="822960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38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1389888"/>
            <a:ext cx="237744" cy="237744"/>
          </a:xfrm>
          <a:prstGeom prst="rect">
            <a:avLst/>
          </a:prstGeom>
        </p:spPr>
      </p:pic>
      <p:sp>
        <p:nvSpPr>
          <p:cNvPr id="7" name="text-387"/>
          <p:cNvSpPr txBox="1"/>
          <p:nvPr/>
        </p:nvSpPr>
        <p:spPr>
          <a:xfrm>
            <a:off x="5715000" y="12618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ملف لكل قائد</a:t>
            </a:r>
            <a:endParaRPr lang="ar-SA" sz="1600" dirty="0"/>
          </a:p>
        </p:txBody>
      </p:sp>
      <p:sp>
        <p:nvSpPr>
          <p:cNvPr id="8" name="text-388"/>
          <p:cNvSpPr txBox="1"/>
          <p:nvPr/>
        </p:nvSpPr>
        <p:spPr>
          <a:xfrm>
            <a:off x="5715000" y="15361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الفرقة، المسؤولية، الدورات والشهادات، الهاتف</a:t>
            </a:r>
            <a:endParaRPr lang="ar-SA" sz="1250" dirty="0"/>
          </a:p>
        </p:txBody>
      </p:sp>
      <p:sp>
        <p:nvSpPr>
          <p:cNvPr id="9" name="circle-389"/>
          <p:cNvSpPr/>
          <p:nvPr/>
        </p:nvSpPr>
        <p:spPr>
          <a:xfrm>
            <a:off x="8229600" y="21031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con-39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2212848"/>
            <a:ext cx="237744" cy="237744"/>
          </a:xfrm>
          <a:prstGeom prst="rect">
            <a:avLst/>
          </a:prstGeom>
        </p:spPr>
      </p:pic>
      <p:sp>
        <p:nvSpPr>
          <p:cNvPr id="11" name="text-391"/>
          <p:cNvSpPr txBox="1"/>
          <p:nvPr/>
        </p:nvSpPr>
        <p:spPr>
          <a:xfrm>
            <a:off x="5715000" y="20848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التشكيلة القيادية</a:t>
            </a:r>
            <a:endParaRPr lang="ar-SA" sz="1600" dirty="0"/>
          </a:p>
        </p:txBody>
      </p:sp>
      <p:sp>
        <p:nvSpPr>
          <p:cNvPr id="12" name="text-392"/>
          <p:cNvSpPr txBox="1"/>
          <p:nvPr/>
        </p:nvSpPr>
        <p:spPr>
          <a:xfrm>
            <a:off x="5715000" y="23591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الهيئة القيادية وقادة الفرق ومساعدوهم، بتواريخ</a:t>
            </a:r>
            <a:endParaRPr lang="ar-SA" sz="1250" dirty="0"/>
          </a:p>
        </p:txBody>
      </p:sp>
      <p:sp>
        <p:nvSpPr>
          <p:cNvPr id="13" name="circle-393"/>
          <p:cNvSpPr/>
          <p:nvPr/>
        </p:nvSpPr>
        <p:spPr>
          <a:xfrm>
            <a:off x="8229600" y="292608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icon-39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3035808"/>
            <a:ext cx="237744" cy="237744"/>
          </a:xfrm>
          <a:prstGeom prst="rect">
            <a:avLst/>
          </a:prstGeom>
        </p:spPr>
      </p:pic>
      <p:sp>
        <p:nvSpPr>
          <p:cNvPr id="15" name="text-395"/>
          <p:cNvSpPr txBox="1"/>
          <p:nvPr/>
        </p:nvSpPr>
        <p:spPr>
          <a:xfrm>
            <a:off x="5715000" y="29077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حساب شخصي</a:t>
            </a:r>
            <a:endParaRPr lang="ar-SA" sz="1600" dirty="0"/>
          </a:p>
        </p:txBody>
      </p:sp>
      <p:sp>
        <p:nvSpPr>
          <p:cNvPr id="16" name="text-396"/>
          <p:cNvSpPr txBox="1"/>
          <p:nvPr/>
        </p:nvSpPr>
        <p:spPr>
          <a:xfrm>
            <a:off x="5715000" y="31821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اسم دخول وكلمة سر لكل قائد، لا حساب مشترك</a:t>
            </a:r>
            <a:endParaRPr lang="ar-SA" sz="1250" dirty="0"/>
          </a:p>
        </p:txBody>
      </p:sp>
      <p:sp>
        <p:nvSpPr>
          <p:cNvPr id="17" name="circle-397"/>
          <p:cNvSpPr/>
          <p:nvPr/>
        </p:nvSpPr>
        <p:spPr>
          <a:xfrm>
            <a:off x="8229600" y="374904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icon-39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8" y="3858768"/>
            <a:ext cx="237744" cy="237744"/>
          </a:xfrm>
          <a:prstGeom prst="rect">
            <a:avLst/>
          </a:prstGeom>
        </p:spPr>
      </p:pic>
      <p:sp>
        <p:nvSpPr>
          <p:cNvPr id="19" name="text-399"/>
          <p:cNvSpPr txBox="1"/>
          <p:nvPr/>
        </p:nvSpPr>
        <p:spPr>
          <a:xfrm>
            <a:off x="5715000" y="37307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الوصول يتبع التشكيلة</a:t>
            </a:r>
            <a:endParaRPr lang="ar-SA" sz="1600" dirty="0"/>
          </a:p>
        </p:txBody>
      </p:sp>
      <p:sp>
        <p:nvSpPr>
          <p:cNvPr id="20" name="text-400"/>
          <p:cNvSpPr txBox="1"/>
          <p:nvPr/>
        </p:nvSpPr>
        <p:spPr>
          <a:xfrm>
            <a:off x="5715000" y="40050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تغيير الفرقة في التشكيلة يحدّث ما يراه القائد وإشعاراته</a:t>
            </a:r>
            <a:endParaRPr lang="ar-SA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94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A85"/>
                </a:solidFill>
              </a:defRPr>
            </a:lvl1pPr>
          </a:lstStyle>
          <a:p>
            <a:pPr rtl="1"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الصلاحيات: كل واحد يرى ما يخصه</a:t>
            </a:r>
            <a:endParaRPr lang="ar-SA" sz="3000" dirty="0"/>
          </a:p>
        </p:txBody>
      </p:sp>
      <p:sp>
        <p:nvSpPr>
          <p:cNvPr id="3" name="card-401"/>
          <p:cNvSpPr/>
          <p:nvPr/>
        </p:nvSpPr>
        <p:spPr>
          <a:xfrm>
            <a:off x="6126480" y="1280160"/>
            <a:ext cx="2560320" cy="26974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4" name="circle-402"/>
          <p:cNvSpPr/>
          <p:nvPr/>
        </p:nvSpPr>
        <p:spPr>
          <a:xfrm>
            <a:off x="7909560" y="1508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con-40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1234" y="1640434"/>
            <a:ext cx="285293" cy="285293"/>
          </a:xfrm>
          <a:prstGeom prst="rect">
            <a:avLst/>
          </a:prstGeom>
        </p:spPr>
      </p:pic>
      <p:sp>
        <p:nvSpPr>
          <p:cNvPr id="6" name="text-404"/>
          <p:cNvSpPr txBox="1"/>
          <p:nvPr/>
        </p:nvSpPr>
        <p:spPr>
          <a:xfrm>
            <a:off x="6355080" y="157276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tx2"/>
                </a:solidFill>
              </a:rPr>
              <a:t>المسؤول</a:t>
            </a:r>
            <a:endParaRPr lang="ar-SA" sz="1900" dirty="0"/>
          </a:p>
        </p:txBody>
      </p:sp>
      <p:sp>
        <p:nvSpPr>
          <p:cNvPr id="7" name="bullets-405"/>
          <p:cNvSpPr txBox="1"/>
          <p:nvPr/>
        </p:nvSpPr>
        <p:spPr>
          <a:xfrm>
            <a:off x="6355080" y="224028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700"/>
              </a:spcAft>
              <a:buSzPct val="100000"/>
              <a:buChar char="•"/>
            </a:pPr>
            <a:r>
              <a:rPr lang="ar-SA" altLang="en-US" sz="1300" dirty="0">
                <a:solidFill>
                  <a:schemeClr val="tx1"/>
                </a:solidFill>
              </a:rPr>
              <a:t>كل الأقسام وكل الفرق</a:t>
            </a:r>
            <a:endParaRPr lang="ar-SA" sz="1300" dirty="0"/>
          </a:p>
          <a:p>
            <a:pPr rtl="1" algn="r" marL="228600" indent="-228600">
              <a:spcAft>
                <a:spcPts val="700"/>
              </a:spcAft>
              <a:buSzPct val="100000"/>
              <a:buChar char="•"/>
            </a:pPr>
            <a:r>
              <a:rPr lang="ar-SA" altLang="en-US" sz="1300" dirty="0">
                <a:solidFill>
                  <a:schemeClr val="tx1"/>
                </a:solidFill>
              </a:rPr>
              <a:t>إدارة الحسابات والصلاحيات</a:t>
            </a:r>
            <a:endParaRPr lang="ar-SA" sz="1300" dirty="0"/>
          </a:p>
          <a:p>
            <a:pPr rtl="1" algn="r" marL="228600" indent="-228600">
              <a:spcAft>
                <a:spcPts val="700"/>
              </a:spcAft>
              <a:buSzPct val="100000"/>
              <a:buChar char="•"/>
            </a:pPr>
            <a:r>
              <a:rPr lang="ar-SA" altLang="en-US" sz="1300" dirty="0">
                <a:solidFill>
                  <a:schemeClr val="tx1"/>
                </a:solidFill>
              </a:rPr>
              <a:t>الإعدادات والكتالوجات</a:t>
            </a:r>
            <a:endParaRPr lang="ar-SA" sz="1300" dirty="0"/>
          </a:p>
          <a:p>
            <a:pPr rtl="1" algn="r" marL="228600" indent="-228600">
              <a:spcAft>
                <a:spcPts val="700"/>
              </a:spcAft>
              <a:buSzPct val="100000"/>
              <a:buChar char="•"/>
            </a:pPr>
            <a:r>
              <a:rPr lang="ar-SA" altLang="en-US" sz="1300" dirty="0">
                <a:solidFill>
                  <a:schemeClr val="tx1"/>
                </a:solidFill>
              </a:rPr>
              <a:t>التقارير الدورية للقيادة</a:t>
            </a:r>
            <a:endParaRPr lang="ar-SA" sz="1300" dirty="0"/>
          </a:p>
        </p:txBody>
      </p:sp>
      <p:sp>
        <p:nvSpPr>
          <p:cNvPr id="8" name="card-406"/>
          <p:cNvSpPr/>
          <p:nvPr/>
        </p:nvSpPr>
        <p:spPr>
          <a:xfrm>
            <a:off x="3291840" y="1280160"/>
            <a:ext cx="2560320" cy="26974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9" name="circle-407"/>
          <p:cNvSpPr/>
          <p:nvPr/>
        </p:nvSpPr>
        <p:spPr>
          <a:xfrm>
            <a:off x="507492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-40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6594" y="1640434"/>
            <a:ext cx="285293" cy="285293"/>
          </a:xfrm>
          <a:prstGeom prst="rect">
            <a:avLst/>
          </a:prstGeom>
        </p:spPr>
      </p:pic>
      <p:sp>
        <p:nvSpPr>
          <p:cNvPr id="11" name="text-409"/>
          <p:cNvSpPr txBox="1"/>
          <p:nvPr/>
        </p:nvSpPr>
        <p:spPr>
          <a:xfrm>
            <a:off x="3520440" y="157276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tx2"/>
                </a:solidFill>
              </a:rPr>
              <a:t>قائد الفرقة</a:t>
            </a:r>
            <a:endParaRPr lang="ar-SA" sz="1900" dirty="0"/>
          </a:p>
        </p:txBody>
      </p:sp>
      <p:sp>
        <p:nvSpPr>
          <p:cNvPr id="12" name="bullets-410"/>
          <p:cNvSpPr txBox="1"/>
          <p:nvPr/>
        </p:nvSpPr>
        <p:spPr>
          <a:xfrm>
            <a:off x="3520440" y="224028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700"/>
              </a:spcAft>
              <a:buSzPct val="100000"/>
              <a:buChar char="•"/>
            </a:pPr>
            <a:r>
              <a:rPr lang="ar-SA" altLang="en-US" sz="1300" dirty="0">
                <a:solidFill>
                  <a:schemeClr val="tx1"/>
                </a:solidFill>
              </a:rPr>
              <a:t>عناصر فرقته وأنشطتها</a:t>
            </a:r>
            <a:endParaRPr lang="ar-SA" sz="1300" dirty="0"/>
          </a:p>
          <a:p>
            <a:pPr rtl="1" algn="r" marL="228600" indent="-228600">
              <a:spcAft>
                <a:spcPts val="700"/>
              </a:spcAft>
              <a:buSzPct val="100000"/>
              <a:buChar char="•"/>
            </a:pPr>
            <a:r>
              <a:rPr lang="ar-SA" altLang="en-US" sz="1300" dirty="0">
                <a:solidFill>
                  <a:schemeClr val="tx1"/>
                </a:solidFill>
              </a:rPr>
              <a:t>الحضور والمطالب والتقييم</a:t>
            </a:r>
            <a:endParaRPr lang="ar-SA" sz="1300" dirty="0"/>
          </a:p>
          <a:p>
            <a:pPr rtl="1" algn="r" marL="228600" indent="-228600">
              <a:spcAft>
                <a:spcPts val="700"/>
              </a:spcAft>
              <a:buSzPct val="100000"/>
              <a:buChar char="•"/>
            </a:pPr>
            <a:r>
              <a:rPr lang="ar-SA" altLang="en-US" sz="1300" dirty="0">
                <a:solidFill>
                  <a:schemeClr val="tx1"/>
                </a:solidFill>
              </a:rPr>
              <a:t>صندوق فرقته واشتراكاتها</a:t>
            </a:r>
            <a:endParaRPr lang="ar-SA" sz="1300" dirty="0"/>
          </a:p>
          <a:p>
            <a:pPr rtl="1" algn="r" marL="228600" indent="-228600">
              <a:spcAft>
                <a:spcPts val="700"/>
              </a:spcAft>
              <a:buSzPct val="100000"/>
              <a:buChar char="•"/>
            </a:pPr>
            <a:r>
              <a:rPr lang="ar-SA" altLang="en-US" sz="1300" dirty="0">
                <a:solidFill>
                  <a:schemeClr val="tx1"/>
                </a:solidFill>
              </a:rPr>
              <a:t>محاضر ومخيمات فرقته</a:t>
            </a:r>
            <a:endParaRPr lang="ar-SA" sz="1300" dirty="0"/>
          </a:p>
        </p:txBody>
      </p:sp>
      <p:sp>
        <p:nvSpPr>
          <p:cNvPr id="13" name="card-411"/>
          <p:cNvSpPr/>
          <p:nvPr/>
        </p:nvSpPr>
        <p:spPr>
          <a:xfrm>
            <a:off x="457200" y="1280160"/>
            <a:ext cx="2560320" cy="26974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14" name="circle-412"/>
          <p:cNvSpPr/>
          <p:nvPr/>
        </p:nvSpPr>
        <p:spPr>
          <a:xfrm>
            <a:off x="2240280" y="1508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con-4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954" y="1640434"/>
            <a:ext cx="285293" cy="285293"/>
          </a:xfrm>
          <a:prstGeom prst="rect">
            <a:avLst/>
          </a:prstGeom>
        </p:spPr>
      </p:pic>
      <p:sp>
        <p:nvSpPr>
          <p:cNvPr id="16" name="text-414"/>
          <p:cNvSpPr txBox="1"/>
          <p:nvPr/>
        </p:nvSpPr>
        <p:spPr>
          <a:xfrm>
            <a:off x="685800" y="157276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tx2"/>
                </a:solidFill>
              </a:rPr>
              <a:t>قراءة فقط</a:t>
            </a:r>
            <a:endParaRPr lang="ar-SA" sz="1900" dirty="0"/>
          </a:p>
        </p:txBody>
      </p:sp>
      <p:sp>
        <p:nvSpPr>
          <p:cNvPr id="17" name="bullets-415"/>
          <p:cNvSpPr txBox="1"/>
          <p:nvPr/>
        </p:nvSpPr>
        <p:spPr>
          <a:xfrm>
            <a:off x="685800" y="224028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700"/>
              </a:spcAft>
              <a:buSzPct val="100000"/>
              <a:buChar char="•"/>
            </a:pPr>
            <a:r>
              <a:rPr lang="ar-SA" altLang="en-US" sz="1300" dirty="0">
                <a:solidFill>
                  <a:schemeClr val="tx1"/>
                </a:solidFill>
              </a:rPr>
              <a:t>يطّلع ولا يعدّل</a:t>
            </a:r>
            <a:endParaRPr lang="ar-SA" sz="1300" dirty="0"/>
          </a:p>
          <a:p>
            <a:pPr rtl="1" algn="r" marL="228600" indent="-228600">
              <a:spcAft>
                <a:spcPts val="700"/>
              </a:spcAft>
              <a:buSzPct val="100000"/>
              <a:buChar char="•"/>
            </a:pPr>
            <a:r>
              <a:rPr lang="ar-SA" altLang="en-US" sz="1300" dirty="0">
                <a:solidFill>
                  <a:schemeClr val="tx1"/>
                </a:solidFill>
              </a:rPr>
              <a:t>مناسب للمساعدين الجدد</a:t>
            </a:r>
            <a:endParaRPr lang="ar-SA" sz="1300" dirty="0"/>
          </a:p>
          <a:p>
            <a:pPr rtl="1" algn="r" marL="228600" indent="-228600">
              <a:spcAft>
                <a:spcPts val="700"/>
              </a:spcAft>
              <a:buSzPct val="100000"/>
              <a:buChar char="•"/>
            </a:pPr>
            <a:r>
              <a:rPr lang="ar-SA" altLang="en-US" sz="1300" dirty="0">
                <a:solidFill>
                  <a:schemeClr val="tx1"/>
                </a:solidFill>
              </a:rPr>
              <a:t>أو لعضو من الهيئة</a:t>
            </a:r>
            <a:endParaRPr lang="ar-SA" sz="1300" dirty="0"/>
          </a:p>
          <a:p>
            <a:pPr rtl="1" algn="r" marL="228600" indent="-228600">
              <a:spcAft>
                <a:spcPts val="700"/>
              </a:spcAft>
              <a:buSzPct val="100000"/>
              <a:buChar char="•"/>
            </a:pPr>
            <a:r>
              <a:rPr lang="ar-SA" altLang="en-US" sz="1300" dirty="0">
                <a:solidFill>
                  <a:schemeClr val="tx1"/>
                </a:solidFill>
              </a:rPr>
              <a:t>الصلاحيات تُمنح بندًا بندًا</a:t>
            </a:r>
            <a:endParaRPr lang="ar-SA" sz="1300" dirty="0"/>
          </a:p>
        </p:txBody>
      </p:sp>
      <p:sp>
        <p:nvSpPr>
          <p:cNvPr id="18" name="card-416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-417"/>
          <p:cNvSpPr txBox="1"/>
          <p:nvPr/>
        </p:nvSpPr>
        <p:spPr>
          <a:xfrm>
            <a:off x="685800" y="4160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tx1"/>
                </a:solidFill>
              </a:rPr>
              <a:t>47 صلاحية دقيقة (مثل: تعديل الحضور، رؤية الصندوق، إدارة المطالب) تُركَّب حسب الحاجة لكل حساب.</a:t>
            </a:r>
            <a:endParaRPr lang="ar-SA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94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A85"/>
                </a:solidFill>
              </a:defRPr>
            </a:lvl1pPr>
          </a:lstStyle>
          <a:p>
            <a:pPr rtl="1"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الإشعارات: البرنامج ينبّهك</a:t>
            </a:r>
            <a:endParaRPr lang="ar-SA" sz="3000" dirty="0"/>
          </a:p>
        </p:txBody>
      </p:sp>
      <p:sp>
        <p:nvSpPr>
          <p:cNvPr id="3" name="card-418"/>
          <p:cNvSpPr/>
          <p:nvPr/>
        </p:nvSpPr>
        <p:spPr>
          <a:xfrm>
            <a:off x="5943600" y="1234440"/>
            <a:ext cx="2743200" cy="329184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4" name="circle-419"/>
          <p:cNvSpPr/>
          <p:nvPr/>
        </p:nvSpPr>
        <p:spPr>
          <a:xfrm>
            <a:off x="6858000" y="155448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con-42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7456" y="1773936"/>
            <a:ext cx="475488" cy="475488"/>
          </a:xfrm>
          <a:prstGeom prst="rect">
            <a:avLst/>
          </a:prstGeom>
        </p:spPr>
      </p:pic>
      <p:sp>
        <p:nvSpPr>
          <p:cNvPr id="6" name="text-421"/>
          <p:cNvSpPr txBox="1"/>
          <p:nvPr/>
        </p:nvSpPr>
        <p:spPr>
          <a:xfrm>
            <a:off x="612648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إشعار على الهاتف</a:t>
            </a:r>
            <a:endParaRPr lang="ar-SA" sz="1700" dirty="0"/>
          </a:p>
        </p:txBody>
      </p:sp>
      <p:sp>
        <p:nvSpPr>
          <p:cNvPr id="7" name="text-422"/>
          <p:cNvSpPr txBox="1"/>
          <p:nvPr/>
        </p:nvSpPr>
        <p:spPr>
          <a:xfrm>
            <a:off x="6217920" y="3017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50" dirty="0">
                <a:solidFill>
                  <a:schemeClr val="bg2"/>
                </a:solidFill>
              </a:rPr>
              <a:t>+ صندوق وارد داخل البرنامج يحفظ كل التنبيهات</a:t>
            </a:r>
            <a:endParaRPr lang="ar-SA" sz="1250" dirty="0"/>
          </a:p>
        </p:txBody>
      </p:sp>
      <p:sp>
        <p:nvSpPr>
          <p:cNvPr id="8" name="text-423"/>
          <p:cNvSpPr txBox="1"/>
          <p:nvPr/>
        </p:nvSpPr>
        <p:spPr>
          <a:xfrm>
            <a:off x="6217920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الجمهور: قادة الفرقة المعنية، أو المسؤول</a:t>
            </a:r>
            <a:endParaRPr lang="ar-SA" sz="1200" dirty="0"/>
          </a:p>
        </p:txBody>
      </p:sp>
      <p:sp>
        <p:nvSpPr>
          <p:cNvPr id="9" name="card-424"/>
          <p:cNvSpPr/>
          <p:nvPr/>
        </p:nvSpPr>
        <p:spPr>
          <a:xfrm>
            <a:off x="3131820" y="1280160"/>
            <a:ext cx="249174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ircle-425"/>
          <p:cNvSpPr/>
          <p:nvPr/>
        </p:nvSpPr>
        <p:spPr>
          <a:xfrm>
            <a:off x="5120640" y="138988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-42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422" y="1477670"/>
            <a:ext cx="190195" cy="190195"/>
          </a:xfrm>
          <a:prstGeom prst="rect">
            <a:avLst/>
          </a:prstGeom>
        </p:spPr>
      </p:pic>
      <p:sp>
        <p:nvSpPr>
          <p:cNvPr id="12" name="text-427"/>
          <p:cNvSpPr txBox="1"/>
          <p:nvPr/>
        </p:nvSpPr>
        <p:spPr>
          <a:xfrm>
            <a:off x="3268980" y="1280160"/>
            <a:ext cx="17602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chemeClr val="tx1"/>
                </a:solidFill>
              </a:rPr>
              <a:t>تذكير بنشاط قريب</a:t>
            </a:r>
            <a:endParaRPr lang="ar-SA" sz="1300" dirty="0"/>
          </a:p>
        </p:txBody>
      </p:sp>
      <p:sp>
        <p:nvSpPr>
          <p:cNvPr id="13" name="card-428"/>
          <p:cNvSpPr/>
          <p:nvPr/>
        </p:nvSpPr>
        <p:spPr>
          <a:xfrm>
            <a:off x="457200" y="1280160"/>
            <a:ext cx="249174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ircle-429"/>
          <p:cNvSpPr/>
          <p:nvPr/>
        </p:nvSpPr>
        <p:spPr>
          <a:xfrm>
            <a:off x="2446020" y="1389888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con-43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802" y="1477670"/>
            <a:ext cx="190195" cy="190195"/>
          </a:xfrm>
          <a:prstGeom prst="rect">
            <a:avLst/>
          </a:prstGeom>
        </p:spPr>
      </p:pic>
      <p:sp>
        <p:nvSpPr>
          <p:cNvPr id="16" name="text-431"/>
          <p:cNvSpPr txBox="1"/>
          <p:nvPr/>
        </p:nvSpPr>
        <p:spPr>
          <a:xfrm>
            <a:off x="594360" y="1280160"/>
            <a:ext cx="17602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chemeClr val="tx1"/>
                </a:solidFill>
              </a:rPr>
              <a:t>حضور لم يُسجَّل</a:t>
            </a:r>
            <a:endParaRPr lang="ar-SA" sz="1300" dirty="0"/>
          </a:p>
        </p:txBody>
      </p:sp>
      <p:sp>
        <p:nvSpPr>
          <p:cNvPr id="17" name="card-432"/>
          <p:cNvSpPr/>
          <p:nvPr/>
        </p:nvSpPr>
        <p:spPr>
          <a:xfrm>
            <a:off x="3131820" y="1938528"/>
            <a:ext cx="249174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circle-433"/>
          <p:cNvSpPr/>
          <p:nvPr/>
        </p:nvSpPr>
        <p:spPr>
          <a:xfrm>
            <a:off x="5120640" y="2048256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9" name="icon-43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8422" y="2136038"/>
            <a:ext cx="190195" cy="190195"/>
          </a:xfrm>
          <a:prstGeom prst="rect">
            <a:avLst/>
          </a:prstGeom>
        </p:spPr>
      </p:pic>
      <p:sp>
        <p:nvSpPr>
          <p:cNvPr id="20" name="text-435"/>
          <p:cNvSpPr txBox="1"/>
          <p:nvPr/>
        </p:nvSpPr>
        <p:spPr>
          <a:xfrm>
            <a:off x="3268980" y="1938528"/>
            <a:ext cx="17602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chemeClr val="tx1"/>
                </a:solidFill>
              </a:rPr>
              <a:t>3 غيابات متتالية</a:t>
            </a:r>
            <a:endParaRPr lang="ar-SA" sz="1300" dirty="0"/>
          </a:p>
        </p:txBody>
      </p:sp>
      <p:sp>
        <p:nvSpPr>
          <p:cNvPr id="21" name="card-436"/>
          <p:cNvSpPr/>
          <p:nvPr/>
        </p:nvSpPr>
        <p:spPr>
          <a:xfrm>
            <a:off x="457200" y="1938528"/>
            <a:ext cx="249174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circle-437"/>
          <p:cNvSpPr/>
          <p:nvPr/>
        </p:nvSpPr>
        <p:spPr>
          <a:xfrm>
            <a:off x="2446020" y="2048256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icon-43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3802" y="2136038"/>
            <a:ext cx="190195" cy="190195"/>
          </a:xfrm>
          <a:prstGeom prst="rect">
            <a:avLst/>
          </a:prstGeom>
        </p:spPr>
      </p:pic>
      <p:sp>
        <p:nvSpPr>
          <p:cNvPr id="24" name="text-439"/>
          <p:cNvSpPr txBox="1"/>
          <p:nvPr/>
        </p:nvSpPr>
        <p:spPr>
          <a:xfrm>
            <a:off x="594360" y="1938528"/>
            <a:ext cx="17602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chemeClr val="tx1"/>
                </a:solidFill>
              </a:rPr>
              <a:t>عنصر جاهز للترفيع</a:t>
            </a:r>
            <a:endParaRPr lang="ar-SA" sz="1300" dirty="0"/>
          </a:p>
        </p:txBody>
      </p:sp>
      <p:sp>
        <p:nvSpPr>
          <p:cNvPr id="25" name="card-440"/>
          <p:cNvSpPr/>
          <p:nvPr/>
        </p:nvSpPr>
        <p:spPr>
          <a:xfrm>
            <a:off x="3131820" y="2596896"/>
            <a:ext cx="249174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circle-441"/>
          <p:cNvSpPr/>
          <p:nvPr/>
        </p:nvSpPr>
        <p:spPr>
          <a:xfrm>
            <a:off x="5120640" y="2706624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7" name="icon-44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8422" y="2794406"/>
            <a:ext cx="190195" cy="190195"/>
          </a:xfrm>
          <a:prstGeom prst="rect">
            <a:avLst/>
          </a:prstGeom>
        </p:spPr>
      </p:pic>
      <p:sp>
        <p:nvSpPr>
          <p:cNvPr id="28" name="text-443"/>
          <p:cNvSpPr txBox="1"/>
          <p:nvPr/>
        </p:nvSpPr>
        <p:spPr>
          <a:xfrm>
            <a:off x="3268980" y="2596896"/>
            <a:ext cx="17602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chemeClr val="tx1"/>
                </a:solidFill>
              </a:rPr>
              <a:t>عيد ميلاد عنصر</a:t>
            </a:r>
            <a:endParaRPr lang="ar-SA" sz="1300" dirty="0"/>
          </a:p>
        </p:txBody>
      </p:sp>
      <p:sp>
        <p:nvSpPr>
          <p:cNvPr id="29" name="card-444"/>
          <p:cNvSpPr/>
          <p:nvPr/>
        </p:nvSpPr>
        <p:spPr>
          <a:xfrm>
            <a:off x="457200" y="2596896"/>
            <a:ext cx="249174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circle-445"/>
          <p:cNvSpPr/>
          <p:nvPr/>
        </p:nvSpPr>
        <p:spPr>
          <a:xfrm>
            <a:off x="2446020" y="270662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con-44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3802" y="2794406"/>
            <a:ext cx="190195" cy="190195"/>
          </a:xfrm>
          <a:prstGeom prst="rect">
            <a:avLst/>
          </a:prstGeom>
        </p:spPr>
      </p:pic>
      <p:sp>
        <p:nvSpPr>
          <p:cNvPr id="32" name="text-447"/>
          <p:cNvSpPr txBox="1"/>
          <p:nvPr/>
        </p:nvSpPr>
        <p:spPr>
          <a:xfrm>
            <a:off x="594360" y="2596896"/>
            <a:ext cx="17602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chemeClr val="tx1"/>
                </a:solidFill>
              </a:rPr>
              <a:t>تعديل في محضر</a:t>
            </a:r>
            <a:endParaRPr lang="ar-SA" sz="1300" dirty="0"/>
          </a:p>
        </p:txBody>
      </p:sp>
      <p:sp>
        <p:nvSpPr>
          <p:cNvPr id="33" name="card-448"/>
          <p:cNvSpPr/>
          <p:nvPr/>
        </p:nvSpPr>
        <p:spPr>
          <a:xfrm>
            <a:off x="3131820" y="3255264"/>
            <a:ext cx="249174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circle-449"/>
          <p:cNvSpPr/>
          <p:nvPr/>
        </p:nvSpPr>
        <p:spPr>
          <a:xfrm>
            <a:off x="5120640" y="336499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5" name="icon-450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8422" y="3452774"/>
            <a:ext cx="190195" cy="190195"/>
          </a:xfrm>
          <a:prstGeom prst="rect">
            <a:avLst/>
          </a:prstGeom>
        </p:spPr>
      </p:pic>
      <p:sp>
        <p:nvSpPr>
          <p:cNvPr id="36" name="text-451"/>
          <p:cNvSpPr txBox="1"/>
          <p:nvPr/>
        </p:nvSpPr>
        <p:spPr>
          <a:xfrm>
            <a:off x="3268980" y="3255264"/>
            <a:ext cx="17602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chemeClr val="tx1"/>
                </a:solidFill>
              </a:rPr>
              <a:t>متأخرات اشتراك</a:t>
            </a:r>
            <a:endParaRPr lang="ar-SA" sz="1300" dirty="0"/>
          </a:p>
        </p:txBody>
      </p:sp>
      <p:sp>
        <p:nvSpPr>
          <p:cNvPr id="37" name="card-452"/>
          <p:cNvSpPr/>
          <p:nvPr/>
        </p:nvSpPr>
        <p:spPr>
          <a:xfrm>
            <a:off x="457200" y="3255264"/>
            <a:ext cx="249174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circle-453"/>
          <p:cNvSpPr/>
          <p:nvPr/>
        </p:nvSpPr>
        <p:spPr>
          <a:xfrm>
            <a:off x="2446020" y="3364992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9" name="icon-45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33802" y="3452774"/>
            <a:ext cx="190195" cy="190195"/>
          </a:xfrm>
          <a:prstGeom prst="rect">
            <a:avLst/>
          </a:prstGeom>
        </p:spPr>
      </p:pic>
      <p:sp>
        <p:nvSpPr>
          <p:cNvPr id="40" name="text-455"/>
          <p:cNvSpPr txBox="1"/>
          <p:nvPr/>
        </p:nvSpPr>
        <p:spPr>
          <a:xfrm>
            <a:off x="594360" y="3255264"/>
            <a:ext cx="17602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chemeClr val="tx1"/>
                </a:solidFill>
              </a:rPr>
              <a:t>مشارك بلا ملف صحي</a:t>
            </a:r>
            <a:endParaRPr lang="ar-SA" sz="1300" dirty="0"/>
          </a:p>
        </p:txBody>
      </p:sp>
      <p:sp>
        <p:nvSpPr>
          <p:cNvPr id="41" name="card-456"/>
          <p:cNvSpPr/>
          <p:nvPr/>
        </p:nvSpPr>
        <p:spPr>
          <a:xfrm>
            <a:off x="3131820" y="3913632"/>
            <a:ext cx="249174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circle-457"/>
          <p:cNvSpPr/>
          <p:nvPr/>
        </p:nvSpPr>
        <p:spPr>
          <a:xfrm>
            <a:off x="5120640" y="402336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3" name="icon-45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08422" y="4111142"/>
            <a:ext cx="190195" cy="190195"/>
          </a:xfrm>
          <a:prstGeom prst="rect">
            <a:avLst/>
          </a:prstGeom>
        </p:spPr>
      </p:pic>
      <p:sp>
        <p:nvSpPr>
          <p:cNvPr id="44" name="text-459"/>
          <p:cNvSpPr txBox="1"/>
          <p:nvPr/>
        </p:nvSpPr>
        <p:spPr>
          <a:xfrm>
            <a:off x="3268980" y="3913632"/>
            <a:ext cx="17602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chemeClr val="tx1"/>
                </a:solidFill>
              </a:rPr>
              <a:t>مهمة أُسندت إليك</a:t>
            </a:r>
            <a:endParaRPr lang="ar-SA" sz="1300" dirty="0"/>
          </a:p>
        </p:txBody>
      </p:sp>
      <p:sp>
        <p:nvSpPr>
          <p:cNvPr id="45" name="card-460"/>
          <p:cNvSpPr/>
          <p:nvPr/>
        </p:nvSpPr>
        <p:spPr>
          <a:xfrm>
            <a:off x="457200" y="3913632"/>
            <a:ext cx="249174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6" name="circle-461"/>
          <p:cNvSpPr/>
          <p:nvPr/>
        </p:nvSpPr>
        <p:spPr>
          <a:xfrm>
            <a:off x="2446020" y="402336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7" name="icon-462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33802" y="4111142"/>
            <a:ext cx="190195" cy="190195"/>
          </a:xfrm>
          <a:prstGeom prst="rect">
            <a:avLst/>
          </a:prstGeom>
        </p:spPr>
      </p:pic>
      <p:sp>
        <p:nvSpPr>
          <p:cNvPr id="48" name="text-463"/>
          <p:cNvSpPr txBox="1"/>
          <p:nvPr/>
        </p:nvSpPr>
        <p:spPr>
          <a:xfrm>
            <a:off x="594360" y="3913632"/>
            <a:ext cx="17602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chemeClr val="tx1"/>
                </a:solidFill>
              </a:rPr>
              <a:t>جاهز للتكريس</a:t>
            </a:r>
            <a:endParaRPr lang="ar-SA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94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A85"/>
                </a:solidFill>
              </a:defRPr>
            </a:lvl1pPr>
          </a:lstStyle>
          <a:p>
            <a:pPr rtl="1"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التقارير والتصدير بضغطة زر</a:t>
            </a:r>
            <a:endParaRPr lang="ar-SA" sz="3000" dirty="0"/>
          </a:p>
        </p:txBody>
      </p:sp>
      <p:sp>
        <p:nvSpPr>
          <p:cNvPr id="3" name="card-464"/>
          <p:cNvSpPr/>
          <p:nvPr/>
        </p:nvSpPr>
        <p:spPr>
          <a:xfrm>
            <a:off x="6492240" y="1280160"/>
            <a:ext cx="21945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4" name="circle-465"/>
          <p:cNvSpPr/>
          <p:nvPr/>
        </p:nvSpPr>
        <p:spPr>
          <a:xfrm>
            <a:off x="6720840" y="146304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icon-46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2514" y="1594714"/>
            <a:ext cx="285293" cy="285293"/>
          </a:xfrm>
          <a:prstGeom prst="rect">
            <a:avLst/>
          </a:prstGeom>
        </p:spPr>
      </p:pic>
      <p:pic>
        <p:nvPicPr>
          <p:cNvPr id="6" name="icon-46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856" y="1591056"/>
            <a:ext cx="292608" cy="292608"/>
          </a:xfrm>
          <a:prstGeom prst="rect">
            <a:avLst/>
          </a:prstGeom>
        </p:spPr>
      </p:pic>
      <p:sp>
        <p:nvSpPr>
          <p:cNvPr id="7" name="text-468"/>
          <p:cNvSpPr txBox="1"/>
          <p:nvPr/>
        </p:nvSpPr>
        <p:spPr>
          <a:xfrm>
            <a:off x="7406640" y="1417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chemeClr val="bg1"/>
                </a:solidFill>
              </a:rPr>
              <a:t>PDF</a:t>
            </a:r>
            <a:endParaRPr lang="ar-SA" sz="2600" dirty="0"/>
          </a:p>
        </p:txBody>
      </p:sp>
      <p:sp>
        <p:nvSpPr>
          <p:cNvPr id="8" name="text-469"/>
          <p:cNvSpPr txBox="1"/>
          <p:nvPr/>
        </p:nvSpPr>
        <p:spPr>
          <a:xfrm>
            <a:off x="6675120" y="2103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chemeClr val="bg1"/>
                </a:solidFill>
              </a:rPr>
              <a:t>تنزيل مباشر، بخط عربي واضح، للطباعة والإرسال</a:t>
            </a:r>
            <a:endParaRPr lang="ar-SA" sz="1150" dirty="0"/>
          </a:p>
        </p:txBody>
      </p:sp>
      <p:sp>
        <p:nvSpPr>
          <p:cNvPr id="9" name="card-470"/>
          <p:cNvSpPr/>
          <p:nvPr/>
        </p:nvSpPr>
        <p:spPr>
          <a:xfrm>
            <a:off x="6492240" y="2971800"/>
            <a:ext cx="2194560" cy="1508760"/>
          </a:xfrm>
          <a:prstGeom prst="roundRect">
            <a:avLst>
              <a:gd name="adj" fmla="val 7273"/>
            </a:avLst>
          </a:prstGeom>
          <a:solidFill>
            <a:schemeClr val="accent5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10" name="circle-471"/>
          <p:cNvSpPr/>
          <p:nvPr/>
        </p:nvSpPr>
        <p:spPr>
          <a:xfrm>
            <a:off x="6720840" y="315468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1" name="icon-47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514" y="3286354"/>
            <a:ext cx="285293" cy="285293"/>
          </a:xfrm>
          <a:prstGeom prst="rect">
            <a:avLst/>
          </a:prstGeom>
        </p:spPr>
      </p:pic>
      <p:pic>
        <p:nvPicPr>
          <p:cNvPr id="12" name="icon-47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3282696"/>
            <a:ext cx="292608" cy="292608"/>
          </a:xfrm>
          <a:prstGeom prst="rect">
            <a:avLst/>
          </a:prstGeom>
        </p:spPr>
      </p:pic>
      <p:sp>
        <p:nvSpPr>
          <p:cNvPr id="13" name="text-474"/>
          <p:cNvSpPr txBox="1"/>
          <p:nvPr/>
        </p:nvSpPr>
        <p:spPr>
          <a:xfrm>
            <a:off x="7406640" y="3108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chemeClr val="bg1"/>
                </a:solidFill>
              </a:rPr>
              <a:t>Excel</a:t>
            </a:r>
            <a:endParaRPr lang="ar-SA" sz="2600" dirty="0"/>
          </a:p>
        </p:txBody>
      </p:sp>
      <p:sp>
        <p:nvSpPr>
          <p:cNvPr id="14" name="text-475"/>
          <p:cNvSpPr txBox="1"/>
          <p:nvPr/>
        </p:nvSpPr>
        <p:spPr>
          <a:xfrm>
            <a:off x="6675120" y="37947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chemeClr val="bg1"/>
                </a:solidFill>
              </a:rPr>
              <a:t>نفس القوائم في جداول قابلة للفرز والتصفية</a:t>
            </a:r>
            <a:endParaRPr lang="ar-SA" sz="1150" dirty="0"/>
          </a:p>
        </p:txBody>
      </p:sp>
      <p:sp>
        <p:nvSpPr>
          <p:cNvPr id="15" name="text-476"/>
          <p:cNvSpPr txBox="1"/>
          <p:nvPr/>
        </p:nvSpPr>
        <p:spPr>
          <a:xfrm>
            <a:off x="457200" y="1280160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tx2"/>
                </a:solidFill>
              </a:rPr>
              <a:t>13 نوعًا من التقارير</a:t>
            </a:r>
            <a:endParaRPr lang="ar-SA" sz="1700" dirty="0"/>
          </a:p>
        </p:txBody>
      </p:sp>
      <p:sp>
        <p:nvSpPr>
          <p:cNvPr id="16" name="chip-477"/>
          <p:cNvSpPr/>
          <p:nvPr/>
        </p:nvSpPr>
        <p:spPr>
          <a:xfrm>
            <a:off x="4544568" y="1783080"/>
            <a:ext cx="162763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-478"/>
          <p:cNvSpPr txBox="1"/>
          <p:nvPr/>
        </p:nvSpPr>
        <p:spPr>
          <a:xfrm>
            <a:off x="4544568" y="178308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tx1"/>
                </a:solidFill>
              </a:rPr>
              <a:t>قائمة العناصر</a:t>
            </a:r>
            <a:endParaRPr lang="ar-SA" sz="1200" dirty="0"/>
          </a:p>
        </p:txBody>
      </p:sp>
      <p:sp>
        <p:nvSpPr>
          <p:cNvPr id="18" name="chip-479"/>
          <p:cNvSpPr/>
          <p:nvPr/>
        </p:nvSpPr>
        <p:spPr>
          <a:xfrm>
            <a:off x="3108960" y="1783080"/>
            <a:ext cx="132588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-480"/>
          <p:cNvSpPr txBox="1"/>
          <p:nvPr/>
        </p:nvSpPr>
        <p:spPr>
          <a:xfrm>
            <a:off x="3108960" y="17830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tx1"/>
                </a:solidFill>
              </a:rPr>
              <a:t>ملف العنصر</a:t>
            </a:r>
            <a:endParaRPr lang="ar-SA" sz="1200" dirty="0"/>
          </a:p>
        </p:txBody>
      </p:sp>
      <p:sp>
        <p:nvSpPr>
          <p:cNvPr id="20" name="chip-481"/>
          <p:cNvSpPr/>
          <p:nvPr/>
        </p:nvSpPr>
        <p:spPr>
          <a:xfrm>
            <a:off x="1673352" y="1783080"/>
            <a:ext cx="132588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-482"/>
          <p:cNvSpPr txBox="1"/>
          <p:nvPr/>
        </p:nvSpPr>
        <p:spPr>
          <a:xfrm>
            <a:off x="1673352" y="17830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tx1"/>
                </a:solidFill>
              </a:rPr>
              <a:t>سجل الحضور</a:t>
            </a:r>
            <a:endParaRPr lang="ar-SA" sz="1200" dirty="0"/>
          </a:p>
        </p:txBody>
      </p:sp>
      <p:sp>
        <p:nvSpPr>
          <p:cNvPr id="22" name="chip-483"/>
          <p:cNvSpPr/>
          <p:nvPr/>
        </p:nvSpPr>
        <p:spPr>
          <a:xfrm>
            <a:off x="539496" y="1783080"/>
            <a:ext cx="1024128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-484"/>
          <p:cNvSpPr txBox="1"/>
          <p:nvPr/>
        </p:nvSpPr>
        <p:spPr>
          <a:xfrm>
            <a:off x="539496" y="178308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tx1"/>
                </a:solidFill>
              </a:rPr>
              <a:t>الأنشطة</a:t>
            </a:r>
            <a:endParaRPr lang="ar-SA" sz="1200" dirty="0"/>
          </a:p>
        </p:txBody>
      </p:sp>
      <p:sp>
        <p:nvSpPr>
          <p:cNvPr id="24" name="chip-485"/>
          <p:cNvSpPr/>
          <p:nvPr/>
        </p:nvSpPr>
        <p:spPr>
          <a:xfrm>
            <a:off x="4544568" y="2258568"/>
            <a:ext cx="162763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-486"/>
          <p:cNvSpPr txBox="1"/>
          <p:nvPr/>
        </p:nvSpPr>
        <p:spPr>
          <a:xfrm>
            <a:off x="4544568" y="225856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tx1"/>
                </a:solidFill>
              </a:rPr>
              <a:t>بطاقة التحضير</a:t>
            </a:r>
            <a:endParaRPr lang="ar-SA" sz="1200" dirty="0"/>
          </a:p>
        </p:txBody>
      </p:sp>
      <p:sp>
        <p:nvSpPr>
          <p:cNvPr id="26" name="chip-487"/>
          <p:cNvSpPr/>
          <p:nvPr/>
        </p:nvSpPr>
        <p:spPr>
          <a:xfrm>
            <a:off x="3511296" y="2258568"/>
            <a:ext cx="923544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-488"/>
          <p:cNvSpPr txBox="1"/>
          <p:nvPr/>
        </p:nvSpPr>
        <p:spPr>
          <a:xfrm>
            <a:off x="3511296" y="2258568"/>
            <a:ext cx="92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tx1"/>
                </a:solidFill>
              </a:rPr>
              <a:t>الفرقة</a:t>
            </a:r>
            <a:endParaRPr lang="ar-SA" sz="1200" dirty="0"/>
          </a:p>
        </p:txBody>
      </p:sp>
      <p:sp>
        <p:nvSpPr>
          <p:cNvPr id="28" name="chip-489"/>
          <p:cNvSpPr/>
          <p:nvPr/>
        </p:nvSpPr>
        <p:spPr>
          <a:xfrm>
            <a:off x="2377440" y="2258568"/>
            <a:ext cx="1024128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-490"/>
          <p:cNvSpPr txBox="1"/>
          <p:nvPr/>
        </p:nvSpPr>
        <p:spPr>
          <a:xfrm>
            <a:off x="2377440" y="2258568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tx1"/>
                </a:solidFill>
              </a:rPr>
              <a:t>الترفيع</a:t>
            </a:r>
            <a:endParaRPr lang="ar-SA" sz="1200" dirty="0"/>
          </a:p>
        </p:txBody>
      </p:sp>
      <p:sp>
        <p:nvSpPr>
          <p:cNvPr id="30" name="chip-491"/>
          <p:cNvSpPr/>
          <p:nvPr/>
        </p:nvSpPr>
        <p:spPr>
          <a:xfrm>
            <a:off x="1344168" y="2258568"/>
            <a:ext cx="923544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-492"/>
          <p:cNvSpPr txBox="1"/>
          <p:nvPr/>
        </p:nvSpPr>
        <p:spPr>
          <a:xfrm>
            <a:off x="1344168" y="2258568"/>
            <a:ext cx="92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tx1"/>
                </a:solidFill>
              </a:rPr>
              <a:t>المخيم</a:t>
            </a:r>
            <a:endParaRPr lang="ar-SA" sz="1200" dirty="0"/>
          </a:p>
        </p:txBody>
      </p:sp>
      <p:sp>
        <p:nvSpPr>
          <p:cNvPr id="32" name="chip-493"/>
          <p:cNvSpPr/>
          <p:nvPr/>
        </p:nvSpPr>
        <p:spPr>
          <a:xfrm>
            <a:off x="5248656" y="2734056"/>
            <a:ext cx="923544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-494"/>
          <p:cNvSpPr txBox="1"/>
          <p:nvPr/>
        </p:nvSpPr>
        <p:spPr>
          <a:xfrm>
            <a:off x="5248656" y="2734056"/>
            <a:ext cx="92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tx1"/>
                </a:solidFill>
              </a:rPr>
              <a:t>المحضر</a:t>
            </a:r>
            <a:endParaRPr lang="ar-SA" sz="1200" dirty="0"/>
          </a:p>
        </p:txBody>
      </p:sp>
      <p:sp>
        <p:nvSpPr>
          <p:cNvPr id="34" name="chip-495"/>
          <p:cNvSpPr/>
          <p:nvPr/>
        </p:nvSpPr>
        <p:spPr>
          <a:xfrm>
            <a:off x="3511296" y="2734056"/>
            <a:ext cx="162763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text-496"/>
          <p:cNvSpPr txBox="1"/>
          <p:nvPr/>
        </p:nvSpPr>
        <p:spPr>
          <a:xfrm>
            <a:off x="3511296" y="2734056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tx1"/>
                </a:solidFill>
              </a:rPr>
              <a:t>يومية الصندوق</a:t>
            </a:r>
            <a:endParaRPr lang="ar-SA" sz="1200" dirty="0"/>
          </a:p>
        </p:txBody>
      </p:sp>
      <p:sp>
        <p:nvSpPr>
          <p:cNvPr id="36" name="chip-497"/>
          <p:cNvSpPr/>
          <p:nvPr/>
        </p:nvSpPr>
        <p:spPr>
          <a:xfrm>
            <a:off x="1874520" y="2734056"/>
            <a:ext cx="1527048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ext-498"/>
          <p:cNvSpPr txBox="1"/>
          <p:nvPr/>
        </p:nvSpPr>
        <p:spPr>
          <a:xfrm>
            <a:off x="1874520" y="2734056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tx1"/>
                </a:solidFill>
              </a:rPr>
              <a:t>صندوق الفرقة</a:t>
            </a:r>
            <a:endParaRPr lang="ar-SA" sz="1200" dirty="0"/>
          </a:p>
        </p:txBody>
      </p:sp>
      <p:sp>
        <p:nvSpPr>
          <p:cNvPr id="38" name="chip-499"/>
          <p:cNvSpPr/>
          <p:nvPr/>
        </p:nvSpPr>
        <p:spPr>
          <a:xfrm>
            <a:off x="841248" y="2734056"/>
            <a:ext cx="923544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ext-500"/>
          <p:cNvSpPr txBox="1"/>
          <p:nvPr/>
        </p:nvSpPr>
        <p:spPr>
          <a:xfrm>
            <a:off x="841248" y="2734056"/>
            <a:ext cx="92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tx1"/>
                </a:solidFill>
              </a:rPr>
              <a:t>القادة</a:t>
            </a:r>
            <a:endParaRPr lang="ar-SA" sz="1200" dirty="0"/>
          </a:p>
        </p:txBody>
      </p:sp>
      <p:sp>
        <p:nvSpPr>
          <p:cNvPr id="40" name="chip-501"/>
          <p:cNvSpPr/>
          <p:nvPr/>
        </p:nvSpPr>
        <p:spPr>
          <a:xfrm>
            <a:off x="3639312" y="3209544"/>
            <a:ext cx="2532888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text-502"/>
          <p:cNvSpPr txBox="1"/>
          <p:nvPr/>
        </p:nvSpPr>
        <p:spPr>
          <a:xfrm>
            <a:off x="3639312" y="3209544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tx1"/>
                </a:solidFill>
              </a:rPr>
              <a:t>التقرير الدوري للقيادة</a:t>
            </a:r>
            <a:endParaRPr lang="ar-SA" sz="1200" dirty="0"/>
          </a:p>
        </p:txBody>
      </p:sp>
      <p:sp>
        <p:nvSpPr>
          <p:cNvPr id="42" name="card-503"/>
          <p:cNvSpPr/>
          <p:nvPr/>
        </p:nvSpPr>
        <p:spPr>
          <a:xfrm>
            <a:off x="457200" y="3840480"/>
            <a:ext cx="5715000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43" name="text-504"/>
          <p:cNvSpPr txBox="1"/>
          <p:nvPr/>
        </p:nvSpPr>
        <p:spPr>
          <a:xfrm>
            <a:off x="640080" y="384048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bg1"/>
                </a:solidFill>
              </a:rPr>
              <a:t>التقرير الدوري للقيادة (شهر أو فصل): ترويسة موحّدة، الحضور، الأنشطة، المالية، وشبكة الحضور في الملحق.</a:t>
            </a:r>
            <a:endParaRPr lang="ar-SA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94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A85"/>
                </a:solidFill>
              </a:defRPr>
            </a:lvl1pPr>
          </a:lstStyle>
          <a:p>
            <a:pPr rtl="1"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على الحاسوب وعلى الهاتف</a:t>
            </a:r>
            <a:endParaRPr lang="ar-SA" sz="3000" dirty="0"/>
          </a:p>
        </p:txBody>
      </p:sp>
      <p:sp>
        <p:nvSpPr>
          <p:cNvPr id="3" name="phone-505"/>
          <p:cNvSpPr/>
          <p:nvPr/>
        </p:nvSpPr>
        <p:spPr>
          <a:xfrm>
            <a:off x="2504049" y="1234440"/>
            <a:ext cx="1589649" cy="3337560"/>
          </a:xfrm>
          <a:prstGeom prst="roundRect">
            <a:avLst>
              <a:gd name="adj" fmla="val 1035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pic>
        <p:nvPicPr>
          <p:cNvPr id="4" name="shot-50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9769" y="1280160"/>
            <a:ext cx="1498209" cy="3246120"/>
          </a:xfrm>
          <a:prstGeom prst="rect">
            <a:avLst/>
          </a:prstGeom>
        </p:spPr>
      </p:pic>
      <p:sp>
        <p:nvSpPr>
          <p:cNvPr id="5" name="phone-507"/>
          <p:cNvSpPr/>
          <p:nvPr/>
        </p:nvSpPr>
        <p:spPr>
          <a:xfrm>
            <a:off x="685800" y="1234440"/>
            <a:ext cx="1589649" cy="3337560"/>
          </a:xfrm>
          <a:prstGeom prst="roundRect">
            <a:avLst>
              <a:gd name="adj" fmla="val 1035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pic>
        <p:nvPicPr>
          <p:cNvPr id="6" name="shot-50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498209" cy="3246120"/>
          </a:xfrm>
          <a:prstGeom prst="rect">
            <a:avLst/>
          </a:prstGeom>
        </p:spPr>
      </p:pic>
      <p:sp>
        <p:nvSpPr>
          <p:cNvPr id="7" name="circle-509"/>
          <p:cNvSpPr/>
          <p:nvPr/>
        </p:nvSpPr>
        <p:spPr>
          <a:xfrm>
            <a:off x="822960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-51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1389888"/>
            <a:ext cx="237744" cy="237744"/>
          </a:xfrm>
          <a:prstGeom prst="rect">
            <a:avLst/>
          </a:prstGeom>
        </p:spPr>
      </p:pic>
      <p:sp>
        <p:nvSpPr>
          <p:cNvPr id="9" name="text-511"/>
          <p:cNvSpPr txBox="1"/>
          <p:nvPr/>
        </p:nvSpPr>
        <p:spPr>
          <a:xfrm>
            <a:off x="4413738" y="1261872"/>
            <a:ext cx="3632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تطبيق على الهاتف</a:t>
            </a:r>
            <a:endParaRPr lang="ar-SA" sz="1600" dirty="0"/>
          </a:p>
        </p:txBody>
      </p:sp>
      <p:sp>
        <p:nvSpPr>
          <p:cNvPr id="10" name="text-512"/>
          <p:cNvSpPr txBox="1"/>
          <p:nvPr/>
        </p:nvSpPr>
        <p:spPr>
          <a:xfrm>
            <a:off x="4413738" y="1536192"/>
            <a:ext cx="36329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يُثبَّت من المتصفح كأي تطبيق، ويستقبل الإشعارات</a:t>
            </a:r>
            <a:endParaRPr lang="ar-SA" sz="1250" dirty="0"/>
          </a:p>
        </p:txBody>
      </p:sp>
      <p:sp>
        <p:nvSpPr>
          <p:cNvPr id="11" name="circle-513"/>
          <p:cNvSpPr/>
          <p:nvPr/>
        </p:nvSpPr>
        <p:spPr>
          <a:xfrm>
            <a:off x="8229600" y="21031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51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2212848"/>
            <a:ext cx="237744" cy="237744"/>
          </a:xfrm>
          <a:prstGeom prst="rect">
            <a:avLst/>
          </a:prstGeom>
        </p:spPr>
      </p:pic>
      <p:sp>
        <p:nvSpPr>
          <p:cNvPr id="13" name="text-515"/>
          <p:cNvSpPr txBox="1"/>
          <p:nvPr/>
        </p:nvSpPr>
        <p:spPr>
          <a:xfrm>
            <a:off x="4413738" y="2084832"/>
            <a:ext cx="3632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عربي وفرنسي</a:t>
            </a:r>
            <a:endParaRPr lang="ar-SA" sz="1600" dirty="0"/>
          </a:p>
        </p:txBody>
      </p:sp>
      <p:sp>
        <p:nvSpPr>
          <p:cNvPr id="14" name="text-516"/>
          <p:cNvSpPr txBox="1"/>
          <p:nvPr/>
        </p:nvSpPr>
        <p:spPr>
          <a:xfrm>
            <a:off x="4413738" y="2359152"/>
            <a:ext cx="36329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الواجهة كاملة بالعربية من اليمين إلى اليسار، أو بالفرنسية</a:t>
            </a:r>
            <a:endParaRPr lang="ar-SA" sz="1250" dirty="0"/>
          </a:p>
        </p:txBody>
      </p:sp>
      <p:sp>
        <p:nvSpPr>
          <p:cNvPr id="15" name="circle-517"/>
          <p:cNvSpPr/>
          <p:nvPr/>
        </p:nvSpPr>
        <p:spPr>
          <a:xfrm>
            <a:off x="8229600" y="29260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con-51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8" y="3035808"/>
            <a:ext cx="237744" cy="237744"/>
          </a:xfrm>
          <a:prstGeom prst="rect">
            <a:avLst/>
          </a:prstGeom>
        </p:spPr>
      </p:pic>
      <p:sp>
        <p:nvSpPr>
          <p:cNvPr id="17" name="text-519"/>
          <p:cNvSpPr txBox="1"/>
          <p:nvPr/>
        </p:nvSpPr>
        <p:spPr>
          <a:xfrm>
            <a:off x="4413738" y="2907792"/>
            <a:ext cx="3632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وضع داكن</a:t>
            </a:r>
            <a:endParaRPr lang="ar-SA" sz="1600" dirty="0"/>
          </a:p>
        </p:txBody>
      </p:sp>
      <p:sp>
        <p:nvSpPr>
          <p:cNvPr id="18" name="text-520"/>
          <p:cNvSpPr txBox="1"/>
          <p:nvPr/>
        </p:nvSpPr>
        <p:spPr>
          <a:xfrm>
            <a:off x="4413738" y="3182112"/>
            <a:ext cx="36329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مريح في المخيم ليلًا</a:t>
            </a:r>
            <a:endParaRPr lang="ar-SA" sz="1250" dirty="0"/>
          </a:p>
        </p:txBody>
      </p:sp>
      <p:sp>
        <p:nvSpPr>
          <p:cNvPr id="19" name="circle-521"/>
          <p:cNvSpPr/>
          <p:nvPr/>
        </p:nvSpPr>
        <p:spPr>
          <a:xfrm>
            <a:off x="8229600" y="374904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0" name="icon-52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9328" y="3858768"/>
            <a:ext cx="237744" cy="237744"/>
          </a:xfrm>
          <a:prstGeom prst="rect">
            <a:avLst/>
          </a:prstGeom>
        </p:spPr>
      </p:pic>
      <p:sp>
        <p:nvSpPr>
          <p:cNvPr id="21" name="text-523"/>
          <p:cNvSpPr txBox="1"/>
          <p:nvPr/>
        </p:nvSpPr>
        <p:spPr>
          <a:xfrm>
            <a:off x="4413738" y="3730752"/>
            <a:ext cx="3632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من أي مكان</a:t>
            </a:r>
            <a:endParaRPr lang="ar-SA" sz="1600" dirty="0"/>
          </a:p>
        </p:txBody>
      </p:sp>
      <p:sp>
        <p:nvSpPr>
          <p:cNvPr id="22" name="text-524"/>
          <p:cNvSpPr txBox="1"/>
          <p:nvPr/>
        </p:nvSpPr>
        <p:spPr>
          <a:xfrm>
            <a:off x="4413738" y="4005072"/>
            <a:ext cx="36329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chemeClr val="accent6"/>
                </a:solidFill>
              </a:rPr>
              <a:t>في الميدان، في البيت، أو في الاجتماع: نفس البيانات</a:t>
            </a:r>
            <a:endParaRPr lang="ar-SA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94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A85"/>
                </a:solidFill>
              </a:defRPr>
            </a:lvl1pPr>
          </a:lstStyle>
          <a:p>
            <a:pPr rtl="1"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الأمان وحماية البيانات</a:t>
            </a:r>
            <a:endParaRPr lang="ar-SA" sz="3000" dirty="0"/>
          </a:p>
        </p:txBody>
      </p:sp>
      <p:sp>
        <p:nvSpPr>
          <p:cNvPr id="3" name="card-525"/>
          <p:cNvSpPr/>
          <p:nvPr/>
        </p:nvSpPr>
        <p:spPr>
          <a:xfrm>
            <a:off x="457200" y="123444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ircle-526"/>
          <p:cNvSpPr/>
          <p:nvPr/>
        </p:nvSpPr>
        <p:spPr>
          <a:xfrm>
            <a:off x="8028432" y="13258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52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6214" y="1413662"/>
            <a:ext cx="190195" cy="190195"/>
          </a:xfrm>
          <a:prstGeom prst="rect">
            <a:avLst/>
          </a:prstGeom>
        </p:spPr>
      </p:pic>
      <p:sp>
        <p:nvSpPr>
          <p:cNvPr id="6" name="text-528"/>
          <p:cNvSpPr txBox="1"/>
          <p:nvPr/>
        </p:nvSpPr>
        <p:spPr>
          <a:xfrm>
            <a:off x="731520" y="1298448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tx2"/>
                </a:solidFill>
              </a:rPr>
              <a:t>خادم خاص بالفوج</a:t>
            </a:r>
            <a:endParaRPr lang="ar-SA" sz="1500" dirty="0"/>
          </a:p>
        </p:txBody>
      </p:sp>
      <p:sp>
        <p:nvSpPr>
          <p:cNvPr id="7" name="text-529"/>
          <p:cNvSpPr txBox="1"/>
          <p:nvPr/>
        </p:nvSpPr>
        <p:spPr>
          <a:xfrm>
            <a:off x="731520" y="1545336"/>
            <a:ext cx="7178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accent6"/>
                </a:solidFill>
              </a:rPr>
              <a:t>البيانات على خادم مخصّص لنا، لا على خدمة عامة، ومحمية بالتشفير عند النقل</a:t>
            </a:r>
            <a:endParaRPr lang="ar-SA" sz="1200" dirty="0"/>
          </a:p>
        </p:txBody>
      </p:sp>
      <p:sp>
        <p:nvSpPr>
          <p:cNvPr id="8" name="card-530"/>
          <p:cNvSpPr/>
          <p:nvPr/>
        </p:nvSpPr>
        <p:spPr>
          <a:xfrm>
            <a:off x="457200" y="1892808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ircle-531"/>
          <p:cNvSpPr/>
          <p:nvPr/>
        </p:nvSpPr>
        <p:spPr>
          <a:xfrm>
            <a:off x="8028432" y="1984248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icon-53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6214" y="2072030"/>
            <a:ext cx="190195" cy="190195"/>
          </a:xfrm>
          <a:prstGeom prst="rect">
            <a:avLst/>
          </a:prstGeom>
        </p:spPr>
      </p:pic>
      <p:sp>
        <p:nvSpPr>
          <p:cNvPr id="11" name="text-533"/>
          <p:cNvSpPr txBox="1"/>
          <p:nvPr/>
        </p:nvSpPr>
        <p:spPr>
          <a:xfrm>
            <a:off x="731520" y="1956816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tx2"/>
                </a:solidFill>
              </a:rPr>
              <a:t>نسخ احتياطية</a:t>
            </a:r>
            <a:endParaRPr lang="ar-SA" sz="1500" dirty="0"/>
          </a:p>
        </p:txBody>
      </p:sp>
      <p:sp>
        <p:nvSpPr>
          <p:cNvPr id="12" name="text-534"/>
          <p:cNvSpPr txBox="1"/>
          <p:nvPr/>
        </p:nvSpPr>
        <p:spPr>
          <a:xfrm>
            <a:off x="731520" y="2203704"/>
            <a:ext cx="7178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accent6"/>
                </a:solidFill>
              </a:rPr>
              <a:t>نسخ منتظمة لقاعدة البيانات، يمكن الرجوع إليها عند أي خطأ</a:t>
            </a:r>
            <a:endParaRPr lang="ar-SA" sz="1200" dirty="0"/>
          </a:p>
        </p:txBody>
      </p:sp>
      <p:sp>
        <p:nvSpPr>
          <p:cNvPr id="13" name="card-535"/>
          <p:cNvSpPr/>
          <p:nvPr/>
        </p:nvSpPr>
        <p:spPr>
          <a:xfrm>
            <a:off x="457200" y="2551176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ircle-536"/>
          <p:cNvSpPr/>
          <p:nvPr/>
        </p:nvSpPr>
        <p:spPr>
          <a:xfrm>
            <a:off x="8028432" y="2642616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con-53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6214" y="2730398"/>
            <a:ext cx="190195" cy="190195"/>
          </a:xfrm>
          <a:prstGeom prst="rect">
            <a:avLst/>
          </a:prstGeom>
        </p:spPr>
      </p:pic>
      <p:sp>
        <p:nvSpPr>
          <p:cNvPr id="16" name="text-538"/>
          <p:cNvSpPr txBox="1"/>
          <p:nvPr/>
        </p:nvSpPr>
        <p:spPr>
          <a:xfrm>
            <a:off x="731520" y="2615184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tx2"/>
                </a:solidFill>
              </a:rPr>
              <a:t>سجل التعديلات</a:t>
            </a:r>
            <a:endParaRPr lang="ar-SA" sz="1500" dirty="0"/>
          </a:p>
        </p:txBody>
      </p:sp>
      <p:sp>
        <p:nvSpPr>
          <p:cNvPr id="17" name="text-539"/>
          <p:cNvSpPr txBox="1"/>
          <p:nvPr/>
        </p:nvSpPr>
        <p:spPr>
          <a:xfrm>
            <a:off x="731520" y="2862072"/>
            <a:ext cx="7178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accent6"/>
                </a:solidFill>
              </a:rPr>
              <a:t>كل تعديل على نشاط أو عنصر محفوظ: من، متى، وماذا تغيّر</a:t>
            </a:r>
            <a:endParaRPr lang="ar-SA" sz="1200" dirty="0"/>
          </a:p>
        </p:txBody>
      </p:sp>
      <p:sp>
        <p:nvSpPr>
          <p:cNvPr id="18" name="card-540"/>
          <p:cNvSpPr/>
          <p:nvPr/>
        </p:nvSpPr>
        <p:spPr>
          <a:xfrm>
            <a:off x="457200" y="3209544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ircle-541"/>
          <p:cNvSpPr/>
          <p:nvPr/>
        </p:nvSpPr>
        <p:spPr>
          <a:xfrm>
            <a:off x="8028432" y="3300984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icon-54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6214" y="3388766"/>
            <a:ext cx="190195" cy="190195"/>
          </a:xfrm>
          <a:prstGeom prst="rect">
            <a:avLst/>
          </a:prstGeom>
        </p:spPr>
      </p:pic>
      <p:sp>
        <p:nvSpPr>
          <p:cNvPr id="21" name="text-543"/>
          <p:cNvSpPr txBox="1"/>
          <p:nvPr/>
        </p:nvSpPr>
        <p:spPr>
          <a:xfrm>
            <a:off x="731520" y="3273552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tx2"/>
                </a:solidFill>
              </a:rPr>
              <a:t>حسابات شخصية وكلمات سر</a:t>
            </a:r>
            <a:endParaRPr lang="ar-SA" sz="1500" dirty="0"/>
          </a:p>
        </p:txBody>
      </p:sp>
      <p:sp>
        <p:nvSpPr>
          <p:cNvPr id="22" name="text-544"/>
          <p:cNvSpPr txBox="1"/>
          <p:nvPr/>
        </p:nvSpPr>
        <p:spPr>
          <a:xfrm>
            <a:off x="731520" y="3520440"/>
            <a:ext cx="7178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accent6"/>
                </a:solidFill>
              </a:rPr>
              <a:t>لا حساب مشترك، وتغيير كلمة السر إلزامي عند أول دخول</a:t>
            </a:r>
            <a:endParaRPr lang="ar-SA" sz="1200" dirty="0"/>
          </a:p>
        </p:txBody>
      </p:sp>
      <p:sp>
        <p:nvSpPr>
          <p:cNvPr id="23" name="card-545"/>
          <p:cNvSpPr/>
          <p:nvPr/>
        </p:nvSpPr>
        <p:spPr>
          <a:xfrm>
            <a:off x="457200" y="3867912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circle-546"/>
          <p:cNvSpPr/>
          <p:nvPr/>
        </p:nvSpPr>
        <p:spPr>
          <a:xfrm>
            <a:off x="8028432" y="395935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con-54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6214" y="4047134"/>
            <a:ext cx="190195" cy="190195"/>
          </a:xfrm>
          <a:prstGeom prst="rect">
            <a:avLst/>
          </a:prstGeom>
        </p:spPr>
      </p:pic>
      <p:sp>
        <p:nvSpPr>
          <p:cNvPr id="26" name="text-548"/>
          <p:cNvSpPr txBox="1"/>
          <p:nvPr/>
        </p:nvSpPr>
        <p:spPr>
          <a:xfrm>
            <a:off x="731520" y="3931920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tx2"/>
                </a:solidFill>
              </a:rPr>
              <a:t>عزل قسم الفتيات</a:t>
            </a:r>
            <a:endParaRPr lang="ar-SA" sz="1500" dirty="0"/>
          </a:p>
        </p:txBody>
      </p:sp>
      <p:sp>
        <p:nvSpPr>
          <p:cNvPr id="27" name="text-549"/>
          <p:cNvSpPr txBox="1"/>
          <p:nvPr/>
        </p:nvSpPr>
        <p:spPr>
          <a:xfrm>
            <a:off x="731520" y="4178808"/>
            <a:ext cx="7178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accent6"/>
                </a:solidFill>
              </a:rPr>
              <a:t>بيانات القسمين منفصلة تمامًا على مستوى الخادم، لا على الشاشة فقط</a:t>
            </a:r>
            <a:endParaRPr lang="ar-SA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94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A85"/>
                </a:solidFill>
              </a:defRPr>
            </a:lvl1pPr>
          </a:lstStyle>
          <a:p>
            <a:pPr rtl="1"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الخطوة القادمة</a:t>
            </a:r>
            <a:endParaRPr lang="ar-SA" sz="3000" dirty="0"/>
          </a:p>
        </p:txBody>
      </p:sp>
      <p:sp>
        <p:nvSpPr>
          <p:cNvPr id="3" name="card-550"/>
          <p:cNvSpPr/>
          <p:nvPr/>
        </p:nvSpPr>
        <p:spPr>
          <a:xfrm>
            <a:off x="4754880" y="123444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4" name="circle-551"/>
          <p:cNvSpPr/>
          <p:nvPr/>
        </p:nvSpPr>
        <p:spPr>
          <a:xfrm>
            <a:off x="7955280" y="14630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con-55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5981" y="1583741"/>
            <a:ext cx="261518" cy="261518"/>
          </a:xfrm>
          <a:prstGeom prst="rect">
            <a:avLst/>
          </a:prstGeom>
        </p:spPr>
      </p:pic>
      <p:sp>
        <p:nvSpPr>
          <p:cNvPr id="6" name="text-553"/>
          <p:cNvSpPr txBox="1"/>
          <p:nvPr/>
        </p:nvSpPr>
        <p:spPr>
          <a:xfrm>
            <a:off x="5029200" y="1508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ما نحتاجه منكم</a:t>
            </a:r>
            <a:endParaRPr lang="ar-SA" sz="2000" dirty="0"/>
          </a:p>
        </p:txBody>
      </p:sp>
      <p:sp>
        <p:nvSpPr>
          <p:cNvPr id="7" name="bullets-554"/>
          <p:cNvSpPr txBox="1"/>
          <p:nvPr/>
        </p:nvSpPr>
        <p:spPr>
          <a:xfrm>
            <a:off x="5029200" y="210312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SA" altLang="en-US" sz="1400" dirty="0">
                <a:solidFill>
                  <a:schemeClr val="bg1"/>
                </a:solidFill>
              </a:rPr>
              <a:t>حساب شخصي لكل قائد، وكلمة سر خاصة</a:t>
            </a:r>
            <a:endParaRPr lang="ar-SA" sz="1400" dirty="0"/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SA" altLang="en-US" sz="1400" dirty="0">
                <a:solidFill>
                  <a:schemeClr val="bg1"/>
                </a:solidFill>
              </a:rPr>
              <a:t>تسجيل الحضور وتثبيته في كل نشاط</a:t>
            </a:r>
            <a:endParaRPr lang="ar-SA" sz="1400" dirty="0"/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SA" altLang="en-US" sz="1400" dirty="0">
                <a:solidFill>
                  <a:schemeClr val="bg1"/>
                </a:solidFill>
              </a:rPr>
              <a:t>تحديث ملفات العناصر: الميلاد، هاتف الأهل، الصحة</a:t>
            </a:r>
            <a:endParaRPr lang="ar-SA" sz="1400" dirty="0"/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SA" altLang="en-US" sz="1400" dirty="0">
                <a:solidFill>
                  <a:schemeClr val="bg1"/>
                </a:solidFill>
              </a:rPr>
              <a:t>تسجيل الاشتراكات من شاشة الحضور</a:t>
            </a:r>
            <a:endParaRPr lang="ar-SA" sz="1400" dirty="0"/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SA" altLang="en-US" sz="1400" dirty="0">
                <a:solidFill>
                  <a:schemeClr val="bg1"/>
                </a:solidFill>
              </a:rPr>
              <a:t>ملاحظاتكم: ما ينقص وما يُزعج</a:t>
            </a:r>
            <a:endParaRPr lang="ar-SA" sz="1400" dirty="0"/>
          </a:p>
        </p:txBody>
      </p:sp>
      <p:sp>
        <p:nvSpPr>
          <p:cNvPr id="8" name="card-555"/>
          <p:cNvSpPr/>
          <p:nvPr/>
        </p:nvSpPr>
        <p:spPr>
          <a:xfrm>
            <a:off x="457200" y="123444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sp>
        <p:nvSpPr>
          <p:cNvPr id="9" name="circle-556"/>
          <p:cNvSpPr/>
          <p:nvPr/>
        </p:nvSpPr>
        <p:spPr>
          <a:xfrm>
            <a:off x="3657600" y="14630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con-55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301" y="1583741"/>
            <a:ext cx="261518" cy="261518"/>
          </a:xfrm>
          <a:prstGeom prst="rect">
            <a:avLst/>
          </a:prstGeom>
        </p:spPr>
      </p:pic>
      <p:sp>
        <p:nvSpPr>
          <p:cNvPr id="11" name="text-558"/>
          <p:cNvSpPr txBox="1"/>
          <p:nvPr/>
        </p:nvSpPr>
        <p:spPr>
          <a:xfrm>
            <a:off x="731520" y="1508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ما سيأتي في البرنامج</a:t>
            </a:r>
            <a:endParaRPr lang="ar-SA" sz="2000" dirty="0"/>
          </a:p>
        </p:txBody>
      </p:sp>
      <p:sp>
        <p:nvSpPr>
          <p:cNvPr id="12" name="bullets-559"/>
          <p:cNvSpPr txBox="1"/>
          <p:nvPr/>
        </p:nvSpPr>
        <p:spPr>
          <a:xfrm>
            <a:off x="731520" y="210312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SA" altLang="en-US" sz="1400" dirty="0">
                <a:solidFill>
                  <a:schemeClr val="tx1"/>
                </a:solidFill>
              </a:rPr>
              <a:t>المراتب والأوسمة حسب منهج كشاف المهدي</a:t>
            </a:r>
            <a:endParaRPr lang="ar-SA" sz="1400" dirty="0"/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SA" altLang="en-US" sz="1400" dirty="0">
                <a:solidFill>
                  <a:schemeClr val="tx1"/>
                </a:solidFill>
              </a:rPr>
              <a:t>سجل التقدم الفردي للعنصر</a:t>
            </a:r>
            <a:endParaRPr lang="ar-SA" sz="1400" dirty="0"/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SA" altLang="en-US" sz="1400" dirty="0">
                <a:solidFill>
                  <a:schemeClr val="tx1"/>
                </a:solidFill>
              </a:rPr>
              <a:t>سجل الحضور الشهري (شبكة عناصر × أنشطة)</a:t>
            </a:r>
            <a:endParaRPr lang="ar-SA" sz="1400" dirty="0"/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SA" altLang="en-US" sz="1400" dirty="0">
                <a:solidFill>
                  <a:schemeClr val="tx1"/>
                </a:solidFill>
              </a:rPr>
              <a:t>جودة البيانات: ملفات ناقصة وعناصر خارج الإطار</a:t>
            </a:r>
            <a:endParaRPr lang="ar-SA" sz="1400" dirty="0"/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ar-SA" altLang="en-US" sz="1400" dirty="0">
                <a:solidFill>
                  <a:schemeClr val="tx1"/>
                </a:solidFill>
              </a:rPr>
              <a:t>تطوير مستمر حسب ما تطلبونه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94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A85"/>
                </a:solidFill>
              </a:defRPr>
            </a:lvl1pPr>
          </a:lstStyle>
          <a:p>
            <a:pPr rtl="1"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-plate-end"/>
          <p:cNvSpPr/>
          <p:nvPr/>
        </p:nvSpPr>
        <p:spPr>
          <a:xfrm>
            <a:off x="822960" y="1188720"/>
            <a:ext cx="2194560" cy="269748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6262D">
                <a:alpha val="12000"/>
              </a:srgbClr>
            </a:outerShdw>
          </a:effectLst>
        </p:spPr>
      </p:sp>
      <p:pic>
        <p:nvPicPr>
          <p:cNvPr id="3" name="logo-en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325880"/>
            <a:ext cx="1737360" cy="2316301"/>
          </a:xfrm>
          <a:prstGeom prst="rect">
            <a:avLst/>
          </a:prstGeom>
        </p:spPr>
      </p:pic>
      <p:sp>
        <p:nvSpPr>
          <p:cNvPr id="4" name="text-560"/>
          <p:cNvSpPr txBox="1"/>
          <p:nvPr/>
        </p:nvSpPr>
        <p:spPr>
          <a:xfrm>
            <a:off x="3474720" y="15544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شكرًا لحسن إصغائكم</a:t>
            </a:r>
            <a:endParaRPr lang="ar-SA" sz="4000" dirty="0"/>
          </a:p>
        </p:txBody>
      </p:sp>
      <p:sp>
        <p:nvSpPr>
          <p:cNvPr id="5" name="text-561"/>
          <p:cNvSpPr txBox="1"/>
          <p:nvPr/>
        </p:nvSpPr>
        <p:spPr>
          <a:xfrm>
            <a:off x="3474720" y="24231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dirty="0">
                <a:solidFill>
                  <a:schemeClr val="accent2"/>
                </a:solidFill>
              </a:rPr>
              <a:t>أسئلة؟</a:t>
            </a:r>
            <a:endParaRPr lang="ar-SA" sz="3000" dirty="0"/>
          </a:p>
        </p:txBody>
      </p:sp>
      <p:sp>
        <p:nvSpPr>
          <p:cNvPr id="6" name="text-562"/>
          <p:cNvSpPr txBox="1"/>
          <p:nvPr/>
        </p:nvSpPr>
        <p:spPr>
          <a:xfrm>
            <a:off x="3474720" y="3200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كشاف الغدير · برنامج إدارة الفوج الكشفي</a:t>
            </a:r>
            <a:endParaRPr lang="ar-SA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chef Alghadir">
  <a:themeElements>
    <a:clrScheme name="Kachef Alghadir">
      <a:dk1>
        <a:srgbClr val="16262D"/>
      </a:dk1>
      <a:lt1>
        <a:srgbClr val="FFFFFF"/>
      </a:lt1>
      <a:dk2>
        <a:srgbClr val="0A6C7A"/>
      </a:dk2>
      <a:lt2>
        <a:srgbClr val="EDF5F6"/>
      </a:lt2>
      <a:accent1>
        <a:srgbClr val="0E8FA3"/>
      </a:accent1>
      <a:accent2>
        <a:srgbClr val="F2B52E"/>
      </a:accent2>
      <a:accent3>
        <a:srgbClr val="8E5BA6"/>
      </a:accent3>
      <a:accent4>
        <a:srgbClr val="E8732A"/>
      </a:accent4>
      <a:accent5>
        <a:srgbClr val="2C9C7A"/>
      </a:accent5>
      <a:accent6>
        <a:srgbClr val="5E7A85"/>
      </a:accent6>
      <a:hlink>
        <a:srgbClr val="0E8FA3"/>
      </a:hlink>
      <a:folHlink>
        <a:srgbClr val="8E5BA6"/>
      </a:folHlink>
    </a:clrScheme>
    <a:fontScheme name="Kachef Alghadi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كشاف الغدير — عرض البرنامج</dc:title>
  <dc:subject>PptxGenJS Presentation</dc:subject>
  <dc:creator>كشافة الغدير</dc:creator>
  <cp:lastModifiedBy>كشافة الغدير</cp:lastModifiedBy>
  <cp:revision>1</cp:revision>
  <dcterms:created xsi:type="dcterms:W3CDTF">2026-10-21T15:15:55Z</dcterms:created>
  <dcterms:modified xsi:type="dcterms:W3CDTF">2026-10-21T15:15:55Z</dcterms:modified>
</cp:coreProperties>
</file>